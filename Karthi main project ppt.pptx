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6" r:id="rId1"/>
  </p:sldMasterIdLst>
  <p:notesMasterIdLst>
    <p:notesMasterId r:id="rId20"/>
  </p:notesMasterIdLst>
  <p:sldIdLst>
    <p:sldId id="268" r:id="rId2"/>
    <p:sldId id="257" r:id="rId3"/>
    <p:sldId id="258" r:id="rId4"/>
    <p:sldId id="259" r:id="rId5"/>
    <p:sldId id="260" r:id="rId6"/>
    <p:sldId id="269" r:id="rId7"/>
    <p:sldId id="270" r:id="rId8"/>
    <p:sldId id="272" r:id="rId9"/>
    <p:sldId id="261" r:id="rId10"/>
    <p:sldId id="262" r:id="rId11"/>
    <p:sldId id="263" r:id="rId12"/>
    <p:sldId id="273" r:id="rId13"/>
    <p:sldId id="274" r:id="rId14"/>
    <p:sldId id="264" r:id="rId15"/>
    <p:sldId id="265" r:id="rId16"/>
    <p:sldId id="266" r:id="rId17"/>
    <p:sldId id="277" r:id="rId18"/>
    <p:sldId id="275"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B1605FA-41AE-4DAB-BEC2-290955C31E47}" type="datetimeFigureOut">
              <a:rPr lang="en-IN" smtClean="0"/>
              <a:t>22-09-2025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FB9326-E21D-48B9-A9AF-D47AF8B4E240}" type="slidenum">
              <a:rPr lang="en-IN" smtClean="0"/>
              <a:t>‹#›</a:t>
            </a:fld>
            <a:endParaRPr lang="en-IN"/>
          </a:p>
        </p:txBody>
      </p:sp>
    </p:spTree>
    <p:extLst>
      <p:ext uri="{BB962C8B-B14F-4D97-AF65-F5344CB8AC3E}">
        <p14:creationId xmlns:p14="http://schemas.microsoft.com/office/powerpoint/2010/main" val="22625670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9FB9326-E21D-48B9-A9AF-D47AF8B4E240}" type="slidenum">
              <a:rPr lang="en-IN" smtClean="0"/>
              <a:t>1</a:t>
            </a:fld>
            <a:endParaRPr lang="en-IN"/>
          </a:p>
        </p:txBody>
      </p:sp>
    </p:spTree>
    <p:extLst>
      <p:ext uri="{BB962C8B-B14F-4D97-AF65-F5344CB8AC3E}">
        <p14:creationId xmlns:p14="http://schemas.microsoft.com/office/powerpoint/2010/main" val="33647019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4829407-10B7-4EF8-B748-04621D4D38F6}" type="datetimeFigureOut">
              <a:rPr lang="en-IN" smtClean="0"/>
              <a:t>22-09-2025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945CC9A-C95D-4806-90C1-762DA88C4369}" type="slidenum">
              <a:rPr lang="en-IN" smtClean="0"/>
              <a:t>‹#›</a:t>
            </a:fld>
            <a:endParaRPr lang="en-IN"/>
          </a:p>
        </p:txBody>
      </p:sp>
    </p:spTree>
    <p:extLst>
      <p:ext uri="{BB962C8B-B14F-4D97-AF65-F5344CB8AC3E}">
        <p14:creationId xmlns:p14="http://schemas.microsoft.com/office/powerpoint/2010/main" val="28192377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829407-10B7-4EF8-B748-04621D4D38F6}" type="datetimeFigureOut">
              <a:rPr lang="en-IN" smtClean="0"/>
              <a:t>22-09-2025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945CC9A-C95D-4806-90C1-762DA88C4369}" type="slidenum">
              <a:rPr lang="en-IN" smtClean="0"/>
              <a:t>‹#›</a:t>
            </a:fld>
            <a:endParaRPr lang="en-IN"/>
          </a:p>
        </p:txBody>
      </p:sp>
    </p:spTree>
    <p:extLst>
      <p:ext uri="{BB962C8B-B14F-4D97-AF65-F5344CB8AC3E}">
        <p14:creationId xmlns:p14="http://schemas.microsoft.com/office/powerpoint/2010/main" val="39353604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4829407-10B7-4EF8-B748-04621D4D38F6}" type="datetimeFigureOut">
              <a:rPr lang="en-IN" smtClean="0"/>
              <a:t>22-09-2025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945CC9A-C95D-4806-90C1-762DA88C4369}" type="slidenum">
              <a:rPr lang="en-IN" smtClean="0"/>
              <a:t>‹#›</a:t>
            </a:fld>
            <a:endParaRPr lang="en-IN"/>
          </a:p>
        </p:txBody>
      </p:sp>
    </p:spTree>
    <p:extLst>
      <p:ext uri="{BB962C8B-B14F-4D97-AF65-F5344CB8AC3E}">
        <p14:creationId xmlns:p14="http://schemas.microsoft.com/office/powerpoint/2010/main" val="9464960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4829407-10B7-4EF8-B748-04621D4D38F6}" type="datetimeFigureOut">
              <a:rPr lang="en-IN" smtClean="0"/>
              <a:t>22-09-2025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945CC9A-C95D-4806-90C1-762DA88C4369}" type="slidenum">
              <a:rPr lang="en-IN" smtClean="0"/>
              <a:t>‹#›</a:t>
            </a:fld>
            <a:endParaRPr lang="en-IN"/>
          </a:p>
        </p:txBody>
      </p:sp>
    </p:spTree>
    <p:extLst>
      <p:ext uri="{BB962C8B-B14F-4D97-AF65-F5344CB8AC3E}">
        <p14:creationId xmlns:p14="http://schemas.microsoft.com/office/powerpoint/2010/main" val="31179455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4829407-10B7-4EF8-B748-04621D4D38F6}" type="datetimeFigureOut">
              <a:rPr lang="en-IN" smtClean="0"/>
              <a:t>22-09-2025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945CC9A-C95D-4806-90C1-762DA88C4369}" type="slidenum">
              <a:rPr lang="en-IN" smtClean="0"/>
              <a:t>‹#›</a:t>
            </a:fld>
            <a:endParaRPr lang="en-IN"/>
          </a:p>
        </p:txBody>
      </p:sp>
    </p:spTree>
    <p:extLst>
      <p:ext uri="{BB962C8B-B14F-4D97-AF65-F5344CB8AC3E}">
        <p14:creationId xmlns:p14="http://schemas.microsoft.com/office/powerpoint/2010/main" val="20937476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4829407-10B7-4EF8-B748-04621D4D38F6}" type="datetimeFigureOut">
              <a:rPr lang="en-IN" smtClean="0"/>
              <a:t>22-09-2025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945CC9A-C95D-4806-90C1-762DA88C4369}" type="slidenum">
              <a:rPr lang="en-IN" smtClean="0"/>
              <a:t>‹#›</a:t>
            </a:fld>
            <a:endParaRPr lang="en-IN"/>
          </a:p>
        </p:txBody>
      </p:sp>
    </p:spTree>
    <p:extLst>
      <p:ext uri="{BB962C8B-B14F-4D97-AF65-F5344CB8AC3E}">
        <p14:creationId xmlns:p14="http://schemas.microsoft.com/office/powerpoint/2010/main" val="6114255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4829407-10B7-4EF8-B748-04621D4D38F6}" type="datetimeFigureOut">
              <a:rPr lang="en-IN" smtClean="0"/>
              <a:t>22-09-2025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945CC9A-C95D-4806-90C1-762DA88C4369}" type="slidenum">
              <a:rPr lang="en-IN" smtClean="0"/>
              <a:t>‹#›</a:t>
            </a:fld>
            <a:endParaRPr lang="en-IN"/>
          </a:p>
        </p:txBody>
      </p:sp>
    </p:spTree>
    <p:extLst>
      <p:ext uri="{BB962C8B-B14F-4D97-AF65-F5344CB8AC3E}">
        <p14:creationId xmlns:p14="http://schemas.microsoft.com/office/powerpoint/2010/main" val="8739314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4829407-10B7-4EF8-B748-04621D4D38F6}" type="datetimeFigureOut">
              <a:rPr lang="en-IN" smtClean="0"/>
              <a:t>22-09-2025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945CC9A-C95D-4806-90C1-762DA88C4369}" type="slidenum">
              <a:rPr lang="en-IN" smtClean="0"/>
              <a:t>‹#›</a:t>
            </a:fld>
            <a:endParaRPr lang="en-IN"/>
          </a:p>
        </p:txBody>
      </p:sp>
    </p:spTree>
    <p:extLst>
      <p:ext uri="{BB962C8B-B14F-4D97-AF65-F5344CB8AC3E}">
        <p14:creationId xmlns:p14="http://schemas.microsoft.com/office/powerpoint/2010/main" val="7822727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4829407-10B7-4EF8-B748-04621D4D38F6}" type="datetimeFigureOut">
              <a:rPr lang="en-IN" smtClean="0"/>
              <a:t>22-09-2025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945CC9A-C95D-4806-90C1-762DA88C4369}" type="slidenum">
              <a:rPr lang="en-IN" smtClean="0"/>
              <a:t>‹#›</a:t>
            </a:fld>
            <a:endParaRPr lang="en-IN"/>
          </a:p>
        </p:txBody>
      </p:sp>
    </p:spTree>
    <p:extLst>
      <p:ext uri="{BB962C8B-B14F-4D97-AF65-F5344CB8AC3E}">
        <p14:creationId xmlns:p14="http://schemas.microsoft.com/office/powerpoint/2010/main" val="38448608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4829407-10B7-4EF8-B748-04621D4D38F6}" type="datetimeFigureOut">
              <a:rPr lang="en-IN" smtClean="0"/>
              <a:t>22-09-2025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945CC9A-C95D-4806-90C1-762DA88C4369}" type="slidenum">
              <a:rPr lang="en-IN" smtClean="0"/>
              <a:t>‹#›</a:t>
            </a:fld>
            <a:endParaRPr lang="en-IN"/>
          </a:p>
        </p:txBody>
      </p:sp>
    </p:spTree>
    <p:extLst>
      <p:ext uri="{BB962C8B-B14F-4D97-AF65-F5344CB8AC3E}">
        <p14:creationId xmlns:p14="http://schemas.microsoft.com/office/powerpoint/2010/main" val="10755357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4829407-10B7-4EF8-B748-04621D4D38F6}" type="datetimeFigureOut">
              <a:rPr lang="en-IN" smtClean="0"/>
              <a:t>22-09-2025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945CC9A-C95D-4806-90C1-762DA88C4369}"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6853065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4829407-10B7-4EF8-B748-04621D4D38F6}" type="datetimeFigureOut">
              <a:rPr lang="en-IN" smtClean="0"/>
              <a:t>22-09-2025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945CC9A-C95D-4806-90C1-762DA88C4369}" type="slidenum">
              <a:rPr lang="en-IN" smtClean="0"/>
              <a:t>‹#›</a:t>
            </a:fld>
            <a:endParaRPr lang="en-IN"/>
          </a:p>
        </p:txBody>
      </p:sp>
    </p:spTree>
    <p:extLst>
      <p:ext uri="{BB962C8B-B14F-4D97-AF65-F5344CB8AC3E}">
        <p14:creationId xmlns:p14="http://schemas.microsoft.com/office/powerpoint/2010/main" val="8193125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4829407-10B7-4EF8-B748-04621D4D38F6}" type="datetimeFigureOut">
              <a:rPr lang="en-IN" smtClean="0"/>
              <a:t>22-09-2025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945CC9A-C95D-4806-90C1-762DA88C4369}"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4717270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4829407-10B7-4EF8-B748-04621D4D38F6}" type="datetimeFigureOut">
              <a:rPr lang="en-IN" smtClean="0"/>
              <a:t>22-09-2025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945CC9A-C95D-4806-90C1-762DA88C4369}" type="slidenum">
              <a:rPr lang="en-IN" smtClean="0"/>
              <a:t>‹#›</a:t>
            </a:fld>
            <a:endParaRPr lang="en-IN"/>
          </a:p>
        </p:txBody>
      </p:sp>
    </p:spTree>
    <p:extLst>
      <p:ext uri="{BB962C8B-B14F-4D97-AF65-F5344CB8AC3E}">
        <p14:creationId xmlns:p14="http://schemas.microsoft.com/office/powerpoint/2010/main" val="29151591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829407-10B7-4EF8-B748-04621D4D38F6}" type="datetimeFigureOut">
              <a:rPr lang="en-IN" smtClean="0"/>
              <a:t>22-09-2025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945CC9A-C95D-4806-90C1-762DA88C4369}" type="slidenum">
              <a:rPr lang="en-IN" smtClean="0"/>
              <a:t>‹#›</a:t>
            </a:fld>
            <a:endParaRPr lang="en-IN"/>
          </a:p>
        </p:txBody>
      </p:sp>
    </p:spTree>
    <p:extLst>
      <p:ext uri="{BB962C8B-B14F-4D97-AF65-F5344CB8AC3E}">
        <p14:creationId xmlns:p14="http://schemas.microsoft.com/office/powerpoint/2010/main" val="34096622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829407-10B7-4EF8-B748-04621D4D38F6}" type="datetimeFigureOut">
              <a:rPr lang="en-IN" smtClean="0"/>
              <a:t>22-09-2025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945CC9A-C95D-4806-90C1-762DA88C4369}" type="slidenum">
              <a:rPr lang="en-IN" smtClean="0"/>
              <a:t>‹#›</a:t>
            </a:fld>
            <a:endParaRPr lang="en-IN"/>
          </a:p>
        </p:txBody>
      </p:sp>
    </p:spTree>
    <p:extLst>
      <p:ext uri="{BB962C8B-B14F-4D97-AF65-F5344CB8AC3E}">
        <p14:creationId xmlns:p14="http://schemas.microsoft.com/office/powerpoint/2010/main" val="2822327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4829407-10B7-4EF8-B748-04621D4D38F6}" type="datetimeFigureOut">
              <a:rPr lang="en-IN" smtClean="0"/>
              <a:t>22-09-2025</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E945CC9A-C95D-4806-90C1-762DA88C4369}" type="slidenum">
              <a:rPr lang="en-IN" smtClean="0"/>
              <a:t>‹#›</a:t>
            </a:fld>
            <a:endParaRPr lang="en-IN"/>
          </a:p>
        </p:txBody>
      </p:sp>
    </p:spTree>
    <p:extLst>
      <p:ext uri="{BB962C8B-B14F-4D97-AF65-F5344CB8AC3E}">
        <p14:creationId xmlns:p14="http://schemas.microsoft.com/office/powerpoint/2010/main" val="1472360705"/>
      </p:ext>
    </p:extLst>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 id="2147483738" r:id="rId12"/>
    <p:sldLayoutId id="2147483739" r:id="rId13"/>
    <p:sldLayoutId id="2147483740" r:id="rId14"/>
    <p:sldLayoutId id="2147483741" r:id="rId15"/>
    <p:sldLayoutId id="2147483742"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646D3D-0157-265D-9A8E-0ED61FEBA205}"/>
              </a:ext>
            </a:extLst>
          </p:cNvPr>
          <p:cNvSpPr>
            <a:spLocks noGrp="1"/>
          </p:cNvSpPr>
          <p:nvPr>
            <p:ph type="title"/>
          </p:nvPr>
        </p:nvSpPr>
        <p:spPr>
          <a:xfrm>
            <a:off x="101600" y="71121"/>
            <a:ext cx="11836400" cy="3211800"/>
          </a:xfrm>
        </p:spPr>
        <p:txBody>
          <a:bodyPr>
            <a:normAutofit fontScale="90000"/>
          </a:bodyPr>
          <a:lstStyle/>
          <a:p>
            <a:pPr algn="ctr"/>
            <a:r>
              <a:rPr lang="en-US" sz="5400" b="1" dirty="0">
                <a:latin typeface="Times New Roman" panose="02020603050405020304" pitchFamily="18" charset="0"/>
                <a:cs typeface="Times New Roman" panose="02020603050405020304" pitchFamily="18" charset="0"/>
              </a:rPr>
              <a:t> </a:t>
            </a:r>
            <a:r>
              <a:rPr lang="en-US" sz="4000" b="1" dirty="0">
                <a:latin typeface="Times New Roman" panose="02020603050405020304" pitchFamily="18" charset="0"/>
                <a:cs typeface="Times New Roman" panose="02020603050405020304" pitchFamily="18" charset="0"/>
              </a:rPr>
              <a:t>DAVANAGERE       UNIVERSITY</a:t>
            </a:r>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				 	</a:t>
            </a:r>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 </a:t>
            </a:r>
            <a:r>
              <a:rPr lang="en-US" sz="2700" b="1" dirty="0">
                <a:latin typeface="Times New Roman" panose="02020603050405020304" pitchFamily="18" charset="0"/>
                <a:cs typeface="Times New Roman" panose="02020603050405020304" pitchFamily="18" charset="0"/>
              </a:rPr>
              <a:t>DEPT. OF STUDIES IN COMPUTER APPLICATIONS(MCA)</a:t>
            </a:r>
            <a:br>
              <a:rPr lang="en-US" sz="2700" b="1" dirty="0">
                <a:latin typeface="Times New Roman" panose="02020603050405020304" pitchFamily="18" charset="0"/>
                <a:cs typeface="Times New Roman" panose="02020603050405020304" pitchFamily="18" charset="0"/>
              </a:rPr>
            </a:br>
            <a:br>
              <a:rPr lang="en-US" sz="2700" b="1" dirty="0">
                <a:latin typeface="Times New Roman" panose="02020603050405020304" pitchFamily="18" charset="0"/>
                <a:cs typeface="Times New Roman" panose="02020603050405020304" pitchFamily="18" charset="0"/>
              </a:rPr>
            </a:br>
            <a:r>
              <a:rPr lang="en-US" b="1" dirty="0">
                <a:solidFill>
                  <a:schemeClr val="tx1"/>
                </a:solidFill>
                <a:latin typeface="Times New Roman" panose="02020603050405020304" pitchFamily="18" charset="0"/>
                <a:cs typeface="Times New Roman" panose="02020603050405020304" pitchFamily="18" charset="0"/>
              </a:rPr>
              <a:t> “Medicine Recommendation based on the </a:t>
            </a:r>
            <a:br>
              <a:rPr lang="en-US" b="1" dirty="0">
                <a:solidFill>
                  <a:schemeClr val="tx1"/>
                </a:solidFill>
                <a:latin typeface="Times New Roman" panose="02020603050405020304" pitchFamily="18" charset="0"/>
                <a:cs typeface="Times New Roman" panose="02020603050405020304" pitchFamily="18" charset="0"/>
              </a:rPr>
            </a:br>
            <a:r>
              <a:rPr lang="en-US" b="1" dirty="0">
                <a:solidFill>
                  <a:schemeClr val="tx1"/>
                </a:solidFill>
                <a:latin typeface="Times New Roman" panose="02020603050405020304" pitchFamily="18" charset="0"/>
                <a:cs typeface="Times New Roman" panose="02020603050405020304" pitchFamily="18" charset="0"/>
              </a:rPr>
              <a:t>User Reviews” </a:t>
            </a:r>
            <a:endParaRPr lang="en-IN" sz="2700" b="1"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C7FA511-E5B3-DC61-87BA-CC1A5209A80D}"/>
              </a:ext>
            </a:extLst>
          </p:cNvPr>
          <p:cNvSpPr>
            <a:spLocks noGrp="1"/>
          </p:cNvSpPr>
          <p:nvPr>
            <p:ph sz="half" idx="1"/>
          </p:nvPr>
        </p:nvSpPr>
        <p:spPr>
          <a:xfrm>
            <a:off x="443655" y="3728720"/>
            <a:ext cx="4295493" cy="2912081"/>
          </a:xfrm>
        </p:spPr>
        <p:txBody>
          <a:bodyPr/>
          <a:lstStyle/>
          <a:p>
            <a:pPr marL="0" indent="0">
              <a:buNone/>
            </a:pPr>
            <a:r>
              <a:rPr lang="en-IN" b="1" u="sng" dirty="0">
                <a:latin typeface="Times New Roman" panose="02020603050405020304" pitchFamily="18" charset="0"/>
                <a:cs typeface="Times New Roman" panose="02020603050405020304" pitchFamily="18" charset="0"/>
              </a:rPr>
              <a:t>Under the Guidance Of : </a:t>
            </a:r>
          </a:p>
          <a:p>
            <a:pPr marL="0" indent="0">
              <a:buNone/>
            </a:pPr>
            <a:r>
              <a:rPr lang="en-IN" dirty="0">
                <a:solidFill>
                  <a:schemeClr val="tx1">
                    <a:lumMod val="95000"/>
                  </a:schemeClr>
                </a:solidFill>
                <a:latin typeface="Times New Roman" panose="02020603050405020304" pitchFamily="18" charset="0"/>
                <a:cs typeface="Times New Roman" panose="02020603050405020304" pitchFamily="18" charset="0"/>
              </a:rPr>
              <a:t>Dr.Anup Ritti  </a:t>
            </a:r>
            <a:r>
              <a:rPr lang="en-IN" sz="1200" dirty="0">
                <a:solidFill>
                  <a:schemeClr val="tx1">
                    <a:lumMod val="95000"/>
                  </a:schemeClr>
                </a:solidFill>
                <a:latin typeface="Times New Roman" panose="02020603050405020304" pitchFamily="18" charset="0"/>
                <a:cs typeface="Times New Roman" panose="02020603050405020304" pitchFamily="18" charset="0"/>
              </a:rPr>
              <a:t>B.E.,M.Tech.,Ph.D., </a:t>
            </a:r>
            <a:endParaRPr lang="en-IN" dirty="0">
              <a:solidFill>
                <a:schemeClr val="tx1">
                  <a:lumMod val="95000"/>
                </a:schemeClr>
              </a:solidFill>
              <a:latin typeface="Times New Roman" panose="02020603050405020304" pitchFamily="18" charset="0"/>
              <a:cs typeface="Times New Roman" panose="02020603050405020304" pitchFamily="18" charset="0"/>
            </a:endParaRPr>
          </a:p>
          <a:p>
            <a:pPr marL="0" indent="0">
              <a:buNone/>
            </a:pPr>
            <a:r>
              <a:rPr lang="en-IN" dirty="0">
                <a:solidFill>
                  <a:schemeClr val="tx1">
                    <a:lumMod val="95000"/>
                  </a:schemeClr>
                </a:solidFill>
                <a:latin typeface="Times New Roman" panose="02020603050405020304" pitchFamily="18" charset="0"/>
                <a:cs typeface="Times New Roman" panose="02020603050405020304" pitchFamily="18" charset="0"/>
              </a:rPr>
              <a:t>Assistant Professor</a:t>
            </a:r>
          </a:p>
          <a:p>
            <a:pPr marL="0" indent="0">
              <a:buNone/>
            </a:pPr>
            <a:r>
              <a:rPr lang="en-IN" dirty="0">
                <a:solidFill>
                  <a:schemeClr val="tx1">
                    <a:lumMod val="95000"/>
                  </a:schemeClr>
                </a:solidFill>
                <a:latin typeface="Times New Roman" panose="02020603050405020304" pitchFamily="18" charset="0"/>
                <a:cs typeface="Times New Roman" panose="02020603050405020304" pitchFamily="18" charset="0"/>
              </a:rPr>
              <a:t>Dept. Of Studies in Computer Applications </a:t>
            </a:r>
          </a:p>
          <a:p>
            <a:pPr marL="0" indent="0">
              <a:buNone/>
            </a:pPr>
            <a:r>
              <a:rPr lang="en-IN" dirty="0">
                <a:solidFill>
                  <a:schemeClr val="tx1">
                    <a:lumMod val="95000"/>
                  </a:schemeClr>
                </a:solidFill>
                <a:latin typeface="Times New Roman" panose="02020603050405020304" pitchFamily="18" charset="0"/>
                <a:cs typeface="Times New Roman" panose="02020603050405020304" pitchFamily="18" charset="0"/>
              </a:rPr>
              <a:t>Davangere University</a:t>
            </a:r>
          </a:p>
          <a:p>
            <a:pPr marL="0" indent="0">
              <a:buNone/>
            </a:pPr>
            <a:endParaRPr lang="en-IN" dirty="0"/>
          </a:p>
          <a:p>
            <a:endParaRPr lang="en-IN" dirty="0"/>
          </a:p>
          <a:p>
            <a:endParaRPr lang="en-IN" dirty="0"/>
          </a:p>
        </p:txBody>
      </p:sp>
      <p:sp>
        <p:nvSpPr>
          <p:cNvPr id="4" name="Content Placeholder 3">
            <a:extLst>
              <a:ext uri="{FF2B5EF4-FFF2-40B4-BE49-F238E27FC236}">
                <a16:creationId xmlns:a16="http://schemas.microsoft.com/office/drawing/2014/main" id="{7C9AD7F8-5FF0-BE1E-ACB1-98CECAA90C04}"/>
              </a:ext>
            </a:extLst>
          </p:cNvPr>
          <p:cNvSpPr>
            <a:spLocks noGrp="1"/>
          </p:cNvSpPr>
          <p:nvPr>
            <p:ph sz="half" idx="2"/>
          </p:nvPr>
        </p:nvSpPr>
        <p:spPr>
          <a:xfrm>
            <a:off x="5958840" y="3728720"/>
            <a:ext cx="4184034" cy="2912081"/>
          </a:xfrm>
        </p:spPr>
        <p:txBody>
          <a:bodyPr/>
          <a:lstStyle/>
          <a:p>
            <a:pPr marL="0" indent="0">
              <a:buNone/>
            </a:pPr>
            <a:r>
              <a:rPr lang="en-US" altLang="en-US" b="1" u="sng" dirty="0">
                <a:latin typeface="Times New Roman" panose="02020603050405020304" pitchFamily="18" charset="0"/>
                <a:cs typeface="Times New Roman" panose="02020603050405020304" pitchFamily="18" charset="0"/>
              </a:rPr>
              <a:t>Submitted By:</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Student Name : Karthik S.R</a:t>
            </a:r>
          </a:p>
          <a:p>
            <a:pPr marL="0" indent="0">
              <a:buNone/>
            </a:pPr>
            <a:r>
              <a:rPr lang="en-US" dirty="0">
                <a:latin typeface="Times New Roman" panose="02020603050405020304" pitchFamily="18" charset="0"/>
                <a:cs typeface="Times New Roman" panose="02020603050405020304" pitchFamily="18" charset="0"/>
              </a:rPr>
              <a:t>Reg No : P13DU23S126014</a:t>
            </a:r>
          </a:p>
          <a:p>
            <a:pPr marL="0" indent="0">
              <a:buNone/>
            </a:pPr>
            <a:r>
              <a:rPr lang="en-US" dirty="0">
                <a:latin typeface="Times New Roman" panose="02020603050405020304" pitchFamily="18" charset="0"/>
                <a:cs typeface="Times New Roman" panose="02020603050405020304" pitchFamily="18" charset="0"/>
              </a:rPr>
              <a:t>Dept. Of Studies in Computer Applications</a:t>
            </a:r>
          </a:p>
          <a:p>
            <a:pPr marL="0" indent="0">
              <a:buNone/>
            </a:pPr>
            <a:r>
              <a:rPr lang="en-US" dirty="0">
                <a:latin typeface="Times New Roman" panose="02020603050405020304" pitchFamily="18" charset="0"/>
                <a:cs typeface="Times New Roman" panose="02020603050405020304" pitchFamily="18" charset="0"/>
              </a:rPr>
              <a:t>Davangere University </a:t>
            </a:r>
            <a:endParaRPr lang="en-IN" dirty="0">
              <a:latin typeface="Times New Roman" panose="02020603050405020304" pitchFamily="18" charset="0"/>
              <a:cs typeface="Times New Roman" panose="02020603050405020304" pitchFamily="18" charset="0"/>
            </a:endParaRPr>
          </a:p>
          <a:p>
            <a:pPr marL="0" indent="0">
              <a:buNone/>
            </a:pPr>
            <a:endParaRPr lang="en-IN" dirty="0"/>
          </a:p>
          <a:p>
            <a:endParaRPr lang="en-IN" dirty="0"/>
          </a:p>
        </p:txBody>
      </p:sp>
      <p:pic>
        <p:nvPicPr>
          <p:cNvPr id="5" name="Picture 4" descr="Davangere University - Wikipedia">
            <a:extLst>
              <a:ext uri="{FF2B5EF4-FFF2-40B4-BE49-F238E27FC236}">
                <a16:creationId xmlns:a16="http://schemas.microsoft.com/office/drawing/2014/main" id="{A9FBB442-2797-39BF-797D-BE6AB838C1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45428" y="217199"/>
            <a:ext cx="812938" cy="7769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03707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4355EE-D3F0-B62A-FBA1-08E6EA5185C7}"/>
              </a:ext>
            </a:extLst>
          </p:cNvPr>
          <p:cNvSpPr>
            <a:spLocks noGrp="1"/>
          </p:cNvSpPr>
          <p:nvPr>
            <p:ph type="title"/>
          </p:nvPr>
        </p:nvSpPr>
        <p:spPr>
          <a:xfrm>
            <a:off x="707922" y="609600"/>
            <a:ext cx="8566079" cy="762000"/>
          </a:xfrm>
        </p:spPr>
        <p:txBody>
          <a:bodyPr>
            <a:normAutofit/>
          </a:bodyPr>
          <a:lstStyle/>
          <a:p>
            <a:r>
              <a:rPr lang="en-US" sz="3200" b="1" dirty="0">
                <a:latin typeface="Times New Roman" panose="02020603050405020304" pitchFamily="18" charset="0"/>
                <a:cs typeface="Times New Roman" panose="02020603050405020304" pitchFamily="18" charset="0"/>
              </a:rPr>
              <a:t>Introduction</a:t>
            </a:r>
            <a:endParaRPr lang="en-IN"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F2F3FE3-5C7D-032F-59E7-0C87AC9743E5}"/>
              </a:ext>
            </a:extLst>
          </p:cNvPr>
          <p:cNvSpPr>
            <a:spLocks noGrp="1"/>
          </p:cNvSpPr>
          <p:nvPr>
            <p:ph idx="1"/>
          </p:nvPr>
        </p:nvSpPr>
        <p:spPr>
          <a:xfrm>
            <a:off x="132080" y="1612490"/>
            <a:ext cx="11511279" cy="4564473"/>
          </a:xfrm>
        </p:spPr>
        <p:txBody>
          <a:bodyPr>
            <a:normAutofit/>
          </a:bodyPr>
          <a:lstStyle/>
          <a:p>
            <a:pPr marL="0" indent="0">
              <a:buNone/>
            </a:pPr>
            <a:r>
              <a:rPr lang="en-US" b="1" dirty="0">
                <a:latin typeface="Times New Roman" panose="02020603050405020304" pitchFamily="18" charset="0"/>
                <a:cs typeface="Times New Roman" panose="02020603050405020304" pitchFamily="18" charset="0"/>
              </a:rPr>
              <a:t>Background of the Project Domain</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Recommendation systems are tools that suggest the best options to users. They are common in shopping and movies, and in healthcare they can help patients choose the right medicine by using reviews and ratings.</a:t>
            </a:r>
          </a:p>
          <a:p>
            <a:pPr>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Importance of the Project</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This project is important because it helps patients avoid wrong or harmful medicines. It saves time, reduces cost, and gives trusted suggestions by analyzing real patient feedback.</a:t>
            </a:r>
          </a:p>
          <a:p>
            <a:pPr>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Scope of the Project</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system focuses on medicine recommendations but can also be used for doctors, hospitals, or treatment plans. In the future, it can be applied to other areas like education or online shopping.</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025330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96F214-F07E-BC30-651C-228C81075AE6}"/>
              </a:ext>
            </a:extLst>
          </p:cNvPr>
          <p:cNvSpPr>
            <a:spLocks noGrp="1"/>
          </p:cNvSpPr>
          <p:nvPr>
            <p:ph type="title"/>
          </p:nvPr>
        </p:nvSpPr>
        <p:spPr>
          <a:xfrm>
            <a:off x="233680" y="88264"/>
            <a:ext cx="8481522" cy="1097280"/>
          </a:xfrm>
        </p:spPr>
        <p:txBody>
          <a:bodyPr>
            <a:normAutofit/>
          </a:bodyPr>
          <a:lstStyle/>
          <a:p>
            <a:r>
              <a:rPr lang="en-US" sz="3200" b="1" dirty="0">
                <a:latin typeface="Times New Roman" panose="02020603050405020304" pitchFamily="18" charset="0"/>
                <a:cs typeface="Times New Roman" panose="02020603050405020304" pitchFamily="18" charset="0"/>
              </a:rPr>
              <a:t>Problem</a:t>
            </a:r>
            <a:r>
              <a:rPr lang="en-US" sz="3200" dirty="0">
                <a:latin typeface="Times New Roman" panose="02020603050405020304" pitchFamily="18" charset="0"/>
                <a:cs typeface="Times New Roman" panose="02020603050405020304" pitchFamily="18" charset="0"/>
              </a:rPr>
              <a:t> </a:t>
            </a:r>
            <a:r>
              <a:rPr lang="en-US" sz="3200" b="1" dirty="0">
                <a:latin typeface="Times New Roman" panose="02020603050405020304" pitchFamily="18" charset="0"/>
                <a:cs typeface="Times New Roman" panose="02020603050405020304" pitchFamily="18" charset="0"/>
              </a:rPr>
              <a:t>Statement</a:t>
            </a:r>
            <a:endParaRPr lang="en-IN"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DA9599D-1627-1C6B-6A02-AF04FAE6A1A9}"/>
              </a:ext>
            </a:extLst>
          </p:cNvPr>
          <p:cNvSpPr>
            <a:spLocks noGrp="1"/>
          </p:cNvSpPr>
          <p:nvPr>
            <p:ph idx="1"/>
          </p:nvPr>
        </p:nvSpPr>
        <p:spPr>
          <a:xfrm>
            <a:off x="1" y="1185544"/>
            <a:ext cx="12049760" cy="5601336"/>
          </a:xfrm>
        </p:spPr>
        <p:txBody>
          <a:bodyPr>
            <a:noAutofit/>
          </a:bodyPr>
          <a:lstStyle/>
          <a:p>
            <a:pPr marL="0" indent="0">
              <a:lnSpc>
                <a:spcPct val="120000"/>
              </a:lnSpc>
              <a:buNone/>
            </a:pPr>
            <a:r>
              <a:rPr lang="en-US" b="1" dirty="0">
                <a:latin typeface="Times New Roman" panose="02020603050405020304" pitchFamily="18" charset="0"/>
                <a:cs typeface="Times New Roman" panose="02020603050405020304" pitchFamily="18" charset="0"/>
              </a:rPr>
              <a:t>Problem to Solve</a:t>
            </a:r>
          </a:p>
          <a:p>
            <a:pPr>
              <a:lnSpc>
                <a:spcPct val="12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Patients find it difficult to choose the right medicine because ratings and short reviews do not show full details like side effects or effectiveness.</a:t>
            </a:r>
          </a:p>
          <a:p>
            <a:pPr>
              <a:lnSpc>
                <a:spcPct val="120000"/>
              </a:lnSpc>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marL="0" indent="0">
              <a:lnSpc>
                <a:spcPct val="120000"/>
              </a:lnSpc>
              <a:buNone/>
            </a:pPr>
            <a:r>
              <a:rPr lang="en-US" b="1" dirty="0">
                <a:latin typeface="Times New Roman" panose="02020603050405020304" pitchFamily="18" charset="0"/>
                <a:cs typeface="Times New Roman" panose="02020603050405020304" pitchFamily="18" charset="0"/>
              </a:rPr>
              <a:t>Existing Challenges</a:t>
            </a: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Star ratings are not enough.</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New users or medicines have little data.</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Many medicines have very few reviews.</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Hard to manage large amounts of data.</a:t>
            </a:r>
          </a:p>
          <a:p>
            <a:pPr>
              <a:lnSpc>
                <a:spcPct val="120000"/>
              </a:lnSpc>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marL="0" indent="0">
              <a:lnSpc>
                <a:spcPct val="120000"/>
              </a:lnSpc>
              <a:buNone/>
            </a:pPr>
            <a:r>
              <a:rPr lang="en-US" b="1" dirty="0">
                <a:latin typeface="Times New Roman" panose="02020603050405020304" pitchFamily="18" charset="0"/>
                <a:cs typeface="Times New Roman" panose="02020603050405020304" pitchFamily="18" charset="0"/>
              </a:rPr>
              <a:t>Motivation for the Project</a:t>
            </a:r>
          </a:p>
          <a:p>
            <a:pPr>
              <a:lnSpc>
                <a:spcPct val="12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Many patients waste money or face health risks due to poor choices. At the same time, lots of reviews are available but not used properly. This project uses AI and deep learning to give smarter, reliable, and personalized medicine recommendations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265340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B9091-E812-A4B3-2B52-597539C58724}"/>
              </a:ext>
            </a:extLst>
          </p:cNvPr>
          <p:cNvSpPr>
            <a:spLocks noGrp="1"/>
          </p:cNvSpPr>
          <p:nvPr>
            <p:ph type="title"/>
          </p:nvPr>
        </p:nvSpPr>
        <p:spPr>
          <a:xfrm>
            <a:off x="457200" y="200525"/>
            <a:ext cx="8428226" cy="886595"/>
          </a:xfrm>
        </p:spPr>
        <p:txBody>
          <a:bodyPr>
            <a:normAutofit/>
          </a:bodyPr>
          <a:lstStyle/>
          <a:p>
            <a:r>
              <a:rPr lang="en-US" sz="3200" b="1" dirty="0">
                <a:latin typeface="Times New Roman" panose="02020603050405020304" pitchFamily="18" charset="0"/>
                <a:cs typeface="Times New Roman" panose="02020603050405020304" pitchFamily="18" charset="0"/>
              </a:rPr>
              <a:t>Objectives</a:t>
            </a:r>
            <a:endParaRPr lang="en-IN"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DC02FDB-10B0-1BEC-895D-2947647346A2}"/>
              </a:ext>
            </a:extLst>
          </p:cNvPr>
          <p:cNvSpPr>
            <a:spLocks noGrp="1"/>
          </p:cNvSpPr>
          <p:nvPr>
            <p:ph idx="1"/>
          </p:nvPr>
        </p:nvSpPr>
        <p:spPr>
          <a:xfrm>
            <a:off x="294640" y="1168400"/>
            <a:ext cx="11795760" cy="5489075"/>
          </a:xfrm>
        </p:spPr>
        <p:txBody>
          <a:bodyPr>
            <a:normAutofit/>
          </a:bodyPr>
          <a:lstStyle/>
          <a:p>
            <a:pPr marL="0" indent="0">
              <a:buNone/>
            </a:pPr>
            <a:r>
              <a:rPr lang="en-US" b="1" dirty="0">
                <a:latin typeface="Times New Roman" panose="02020603050405020304" pitchFamily="18" charset="0"/>
                <a:cs typeface="Times New Roman" panose="02020603050405020304" pitchFamily="18" charset="0"/>
              </a:rPr>
              <a:t>Main Objectives</a:t>
            </a: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build a medicine recommendation system.</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use reviews, ratings, and AI for better suggestions.</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give patients accurate and useful medicine choices.</a:t>
            </a:r>
          </a:p>
          <a:p>
            <a:pPr marL="0" indent="0">
              <a:buNone/>
            </a:pPr>
            <a:r>
              <a:rPr lang="en-US" b="1" dirty="0">
                <a:latin typeface="Times New Roman" panose="02020603050405020304" pitchFamily="18" charset="0"/>
                <a:cs typeface="Times New Roman" panose="02020603050405020304" pitchFamily="18" charset="0"/>
              </a:rPr>
              <a:t>Sub Goals</a:t>
            </a: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Collect reviews from users and websites.</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Clean the data (remove unwanted words/symbols).</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Find useful features (effectiveness, side effects, cost).</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Check review sentiments (positive, negative, neutral).</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Rank and recommend the best medicines.</a:t>
            </a:r>
          </a:p>
          <a:p>
            <a:pPr marL="0" indent="0">
              <a:buNone/>
            </a:pPr>
            <a:r>
              <a:rPr lang="en-US" b="1" dirty="0">
                <a:latin typeface="Times New Roman" panose="02020603050405020304" pitchFamily="18" charset="0"/>
                <a:cs typeface="Times New Roman" panose="02020603050405020304" pitchFamily="18" charset="0"/>
              </a:rPr>
              <a:t>Aim of the Project</a:t>
            </a: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help patients select the right medicine easily and safely using personalized AI-based recommendations.</a:t>
            </a:r>
          </a:p>
          <a:p>
            <a:pPr>
              <a:buFont typeface="Wingdings" panose="05000000000000000000" pitchFamily="2" charset="2"/>
              <a:buChar char="Ø"/>
            </a:pPr>
            <a:endParaRPr lang="en-IN" dirty="0"/>
          </a:p>
        </p:txBody>
      </p:sp>
    </p:spTree>
    <p:extLst>
      <p:ext uri="{BB962C8B-B14F-4D97-AF65-F5344CB8AC3E}">
        <p14:creationId xmlns:p14="http://schemas.microsoft.com/office/powerpoint/2010/main" val="1534250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F1F525-7F81-FBC1-FF53-8C14E9BE65CA}"/>
              </a:ext>
            </a:extLst>
          </p:cNvPr>
          <p:cNvSpPr>
            <a:spLocks noGrp="1"/>
          </p:cNvSpPr>
          <p:nvPr>
            <p:ph type="title"/>
          </p:nvPr>
        </p:nvSpPr>
        <p:spPr>
          <a:xfrm>
            <a:off x="528321" y="258317"/>
            <a:ext cx="8606828" cy="584963"/>
          </a:xfrm>
        </p:spPr>
        <p:txBody>
          <a:bodyPr>
            <a:normAutofit/>
          </a:bodyPr>
          <a:lstStyle/>
          <a:p>
            <a:r>
              <a:rPr lang="en-US" sz="3200" b="1" dirty="0">
                <a:latin typeface="Times New Roman" panose="02020603050405020304" pitchFamily="18" charset="0"/>
                <a:cs typeface="Times New Roman" panose="02020603050405020304" pitchFamily="18" charset="0"/>
              </a:rPr>
              <a:t>Literature</a:t>
            </a:r>
            <a:r>
              <a:rPr lang="en-US" sz="3200" dirty="0">
                <a:latin typeface="Times New Roman" panose="02020603050405020304" pitchFamily="18" charset="0"/>
                <a:cs typeface="Times New Roman" panose="02020603050405020304" pitchFamily="18" charset="0"/>
              </a:rPr>
              <a:t> </a:t>
            </a:r>
            <a:r>
              <a:rPr lang="en-US" sz="3200" b="1" dirty="0">
                <a:latin typeface="Times New Roman" panose="02020603050405020304" pitchFamily="18" charset="0"/>
                <a:cs typeface="Times New Roman" panose="02020603050405020304" pitchFamily="18" charset="0"/>
              </a:rPr>
              <a:t>Review</a:t>
            </a:r>
            <a:endParaRPr lang="en-IN" sz="3200" b="1" dirty="0">
              <a:latin typeface="Times New Roman" panose="02020603050405020304" pitchFamily="18" charset="0"/>
              <a:cs typeface="Times New Roman" panose="02020603050405020304" pitchFamily="18" charset="0"/>
            </a:endParaRPr>
          </a:p>
        </p:txBody>
      </p:sp>
      <p:graphicFrame>
        <p:nvGraphicFramePr>
          <p:cNvPr id="12" name="Table 11">
            <a:extLst>
              <a:ext uri="{FF2B5EF4-FFF2-40B4-BE49-F238E27FC236}">
                <a16:creationId xmlns:a16="http://schemas.microsoft.com/office/drawing/2014/main" id="{37013D58-2771-AF47-F524-20AC904C5B8A}"/>
              </a:ext>
            </a:extLst>
          </p:cNvPr>
          <p:cNvGraphicFramePr>
            <a:graphicFrameLocks noGrp="1"/>
          </p:cNvGraphicFramePr>
          <p:nvPr>
            <p:extLst>
              <p:ext uri="{D42A27DB-BD31-4B8C-83A1-F6EECF244321}">
                <p14:modId xmlns:p14="http://schemas.microsoft.com/office/powerpoint/2010/main" val="1779477719"/>
              </p:ext>
            </p:extLst>
          </p:nvPr>
        </p:nvGraphicFramePr>
        <p:xfrm>
          <a:off x="250614" y="1060957"/>
          <a:ext cx="11280985" cy="5660297"/>
        </p:xfrm>
        <a:graphic>
          <a:graphicData uri="http://schemas.openxmlformats.org/drawingml/2006/table">
            <a:tbl>
              <a:tblPr firstRow="1" bandRow="1">
                <a:tableStyleId>{5C22544A-7EE6-4342-B048-85BDC9FD1C3A}</a:tableStyleId>
              </a:tblPr>
              <a:tblGrid>
                <a:gridCol w="1730586">
                  <a:extLst>
                    <a:ext uri="{9D8B030D-6E8A-4147-A177-3AD203B41FA5}">
                      <a16:colId xmlns:a16="http://schemas.microsoft.com/office/drawing/2014/main" val="2323839155"/>
                    </a:ext>
                  </a:extLst>
                </a:gridCol>
                <a:gridCol w="2418080">
                  <a:extLst>
                    <a:ext uri="{9D8B030D-6E8A-4147-A177-3AD203B41FA5}">
                      <a16:colId xmlns:a16="http://schemas.microsoft.com/office/drawing/2014/main" val="1304712713"/>
                    </a:ext>
                  </a:extLst>
                </a:gridCol>
                <a:gridCol w="2296160">
                  <a:extLst>
                    <a:ext uri="{9D8B030D-6E8A-4147-A177-3AD203B41FA5}">
                      <a16:colId xmlns:a16="http://schemas.microsoft.com/office/drawing/2014/main" val="1691926737"/>
                    </a:ext>
                  </a:extLst>
                </a:gridCol>
                <a:gridCol w="2377440">
                  <a:extLst>
                    <a:ext uri="{9D8B030D-6E8A-4147-A177-3AD203B41FA5}">
                      <a16:colId xmlns:a16="http://schemas.microsoft.com/office/drawing/2014/main" val="2090351360"/>
                    </a:ext>
                  </a:extLst>
                </a:gridCol>
                <a:gridCol w="2458719">
                  <a:extLst>
                    <a:ext uri="{9D8B030D-6E8A-4147-A177-3AD203B41FA5}">
                      <a16:colId xmlns:a16="http://schemas.microsoft.com/office/drawing/2014/main" val="1826013228"/>
                    </a:ext>
                  </a:extLst>
                </a:gridCol>
              </a:tblGrid>
              <a:tr h="543042">
                <a:tc>
                  <a:txBody>
                    <a:bodyPr/>
                    <a:lstStyle/>
                    <a:p>
                      <a:pPr algn="ctr">
                        <a:lnSpc>
                          <a:spcPct val="150000"/>
                        </a:lnSpc>
                      </a:pPr>
                      <a:r>
                        <a:rPr lang="en-US" sz="1800" dirty="0"/>
                        <a:t>References</a:t>
                      </a:r>
                      <a:endParaRPr lang="en-IN" sz="1800" dirty="0"/>
                    </a:p>
                  </a:txBody>
                  <a:tcPr/>
                </a:tc>
                <a:tc>
                  <a:txBody>
                    <a:bodyPr/>
                    <a:lstStyle/>
                    <a:p>
                      <a:pPr algn="ctr">
                        <a:lnSpc>
                          <a:spcPct val="150000"/>
                        </a:lnSpc>
                        <a:buNone/>
                      </a:pPr>
                      <a:r>
                        <a:rPr lang="en-IN" sz="1800" b="1" dirty="0"/>
                        <a:t>Author</a:t>
                      </a:r>
                      <a:endParaRPr lang="en-IN" sz="1800" dirty="0"/>
                    </a:p>
                  </a:txBody>
                  <a:tcPr marL="86254" marR="86254" marT="43127" marB="43127" anchor="ctr"/>
                </a:tc>
                <a:tc>
                  <a:txBody>
                    <a:bodyPr/>
                    <a:lstStyle/>
                    <a:p>
                      <a:pPr algn="ctr">
                        <a:lnSpc>
                          <a:spcPct val="150000"/>
                        </a:lnSpc>
                        <a:buNone/>
                      </a:pPr>
                      <a:r>
                        <a:rPr lang="en-IN" sz="1800" b="1"/>
                        <a:t>Method</a:t>
                      </a:r>
                      <a:endParaRPr lang="en-IN" sz="1800"/>
                    </a:p>
                  </a:txBody>
                  <a:tcPr marL="86254" marR="86254" marT="43127" marB="43127" anchor="ctr"/>
                </a:tc>
                <a:tc>
                  <a:txBody>
                    <a:bodyPr/>
                    <a:lstStyle/>
                    <a:p>
                      <a:pPr algn="ctr">
                        <a:lnSpc>
                          <a:spcPct val="150000"/>
                        </a:lnSpc>
                        <a:buNone/>
                      </a:pPr>
                      <a:r>
                        <a:rPr lang="en-IN" sz="1800" b="1"/>
                        <a:t>What It Does</a:t>
                      </a:r>
                      <a:endParaRPr lang="en-IN" sz="1800"/>
                    </a:p>
                  </a:txBody>
                  <a:tcPr marL="86254" marR="86254" marT="43127" marB="43127" anchor="ctr"/>
                </a:tc>
                <a:tc>
                  <a:txBody>
                    <a:bodyPr/>
                    <a:lstStyle/>
                    <a:p>
                      <a:pPr algn="ctr">
                        <a:lnSpc>
                          <a:spcPct val="150000"/>
                        </a:lnSpc>
                        <a:buNone/>
                      </a:pPr>
                      <a:r>
                        <a:rPr lang="en-IN" sz="1800" b="1"/>
                        <a:t>Result / Accuracy</a:t>
                      </a:r>
                      <a:endParaRPr lang="en-IN" sz="1800"/>
                    </a:p>
                  </a:txBody>
                  <a:tcPr marL="86254" marR="86254" marT="43127" marB="43127" anchor="ctr"/>
                </a:tc>
                <a:extLst>
                  <a:ext uri="{0D108BD9-81ED-4DB2-BD59-A6C34878D82A}">
                    <a16:rowId xmlns:a16="http://schemas.microsoft.com/office/drawing/2014/main" val="4160012416"/>
                  </a:ext>
                </a:extLst>
              </a:tr>
              <a:tr h="757963">
                <a:tc>
                  <a:txBody>
                    <a:bodyPr/>
                    <a:lstStyle/>
                    <a:p>
                      <a:pPr algn="ctr">
                        <a:lnSpc>
                          <a:spcPct val="250000"/>
                        </a:lnSpc>
                      </a:pPr>
                      <a:r>
                        <a:rPr lang="en-US" sz="1800" dirty="0"/>
                        <a:t>[1]</a:t>
                      </a:r>
                      <a:endParaRPr lang="en-IN" sz="1800" dirty="0"/>
                    </a:p>
                  </a:txBody>
                  <a:tcPr/>
                </a:tc>
                <a:tc>
                  <a:txBody>
                    <a:bodyPr/>
                    <a:lstStyle/>
                    <a:p>
                      <a:pPr algn="ctr">
                        <a:lnSpc>
                          <a:spcPct val="150000"/>
                        </a:lnSpc>
                        <a:buNone/>
                      </a:pPr>
                      <a:r>
                        <a:rPr lang="en-IN" sz="1800"/>
                        <a:t>LeCun, Bengio &amp; Hinton (2015)</a:t>
                      </a:r>
                    </a:p>
                  </a:txBody>
                  <a:tcPr marL="86254" marR="86254" marT="43127" marB="43127" anchor="ctr"/>
                </a:tc>
                <a:tc>
                  <a:txBody>
                    <a:bodyPr/>
                    <a:lstStyle/>
                    <a:p>
                      <a:pPr algn="ctr">
                        <a:lnSpc>
                          <a:spcPct val="150000"/>
                        </a:lnSpc>
                        <a:buNone/>
                      </a:pPr>
                      <a:r>
                        <a:rPr lang="en-IN" sz="1800" dirty="0"/>
                        <a:t>Deep Neural Networks</a:t>
                      </a:r>
                    </a:p>
                  </a:txBody>
                  <a:tcPr marL="86254" marR="86254" marT="43127" marB="43127" anchor="ctr"/>
                </a:tc>
                <a:tc>
                  <a:txBody>
                    <a:bodyPr/>
                    <a:lstStyle/>
                    <a:p>
                      <a:pPr algn="ctr">
                        <a:lnSpc>
                          <a:spcPct val="150000"/>
                        </a:lnSpc>
                        <a:buNone/>
                      </a:pPr>
                      <a:r>
                        <a:rPr lang="en-US" sz="1800"/>
                        <a:t>Learns patterns from raw data</a:t>
                      </a:r>
                    </a:p>
                  </a:txBody>
                  <a:tcPr marL="86254" marR="86254" marT="43127" marB="43127" anchor="ctr"/>
                </a:tc>
                <a:tc>
                  <a:txBody>
                    <a:bodyPr/>
                    <a:lstStyle/>
                    <a:p>
                      <a:pPr algn="ctr">
                        <a:lnSpc>
                          <a:spcPct val="150000"/>
                        </a:lnSpc>
                        <a:buNone/>
                      </a:pPr>
                      <a:r>
                        <a:rPr lang="en-US" sz="1800"/>
                        <a:t>Helps AI get better at many tasks</a:t>
                      </a:r>
                    </a:p>
                  </a:txBody>
                  <a:tcPr marL="86254" marR="86254" marT="43127" marB="43127" anchor="ctr"/>
                </a:tc>
                <a:extLst>
                  <a:ext uri="{0D108BD9-81ED-4DB2-BD59-A6C34878D82A}">
                    <a16:rowId xmlns:a16="http://schemas.microsoft.com/office/drawing/2014/main" val="365634918"/>
                  </a:ext>
                </a:extLst>
              </a:tr>
              <a:tr h="1001413">
                <a:tc>
                  <a:txBody>
                    <a:bodyPr/>
                    <a:lstStyle/>
                    <a:p>
                      <a:pPr algn="ctr">
                        <a:lnSpc>
                          <a:spcPct val="250000"/>
                        </a:lnSpc>
                      </a:pPr>
                      <a:r>
                        <a:rPr lang="en-US" sz="1800" dirty="0"/>
                        <a:t>[2]</a:t>
                      </a:r>
                      <a:endParaRPr lang="en-IN" sz="1800" dirty="0"/>
                    </a:p>
                  </a:txBody>
                  <a:tcPr/>
                </a:tc>
                <a:tc>
                  <a:txBody>
                    <a:bodyPr/>
                    <a:lstStyle/>
                    <a:p>
                      <a:pPr algn="ctr">
                        <a:lnSpc>
                          <a:spcPct val="150000"/>
                        </a:lnSpc>
                        <a:buNone/>
                      </a:pPr>
                      <a:r>
                        <a:rPr lang="en-IN" sz="1800"/>
                        <a:t>Mikolov et al. (2013)</a:t>
                      </a:r>
                    </a:p>
                  </a:txBody>
                  <a:tcPr marL="86254" marR="86254" marT="43127" marB="43127" anchor="ctr"/>
                </a:tc>
                <a:tc>
                  <a:txBody>
                    <a:bodyPr/>
                    <a:lstStyle/>
                    <a:p>
                      <a:pPr algn="ctr">
                        <a:lnSpc>
                          <a:spcPct val="150000"/>
                        </a:lnSpc>
                        <a:buNone/>
                      </a:pPr>
                      <a:r>
                        <a:rPr lang="en-IN" sz="1800"/>
                        <a:t>Word2Vec</a:t>
                      </a:r>
                    </a:p>
                  </a:txBody>
                  <a:tcPr marL="86254" marR="86254" marT="43127" marB="43127" anchor="ctr"/>
                </a:tc>
                <a:tc>
                  <a:txBody>
                    <a:bodyPr/>
                    <a:lstStyle/>
                    <a:p>
                      <a:pPr algn="ctr">
                        <a:lnSpc>
                          <a:spcPct val="150000"/>
                        </a:lnSpc>
                        <a:buNone/>
                      </a:pPr>
                      <a:r>
                        <a:rPr lang="en-US" sz="1800" dirty="0"/>
                        <a:t>Turns words into numbers to show meaning</a:t>
                      </a:r>
                    </a:p>
                  </a:txBody>
                  <a:tcPr marL="86254" marR="86254" marT="43127" marB="43127" anchor="ctr"/>
                </a:tc>
                <a:tc>
                  <a:txBody>
                    <a:bodyPr/>
                    <a:lstStyle/>
                    <a:p>
                      <a:pPr algn="ctr">
                        <a:lnSpc>
                          <a:spcPct val="150000"/>
                        </a:lnSpc>
                        <a:buNone/>
                      </a:pPr>
                      <a:r>
                        <a:rPr lang="en-US" sz="1800" dirty="0"/>
                        <a:t>Understands text better than old methods</a:t>
                      </a:r>
                    </a:p>
                  </a:txBody>
                  <a:tcPr marL="86254" marR="86254" marT="43127" marB="43127" anchor="ctr"/>
                </a:tc>
                <a:extLst>
                  <a:ext uri="{0D108BD9-81ED-4DB2-BD59-A6C34878D82A}">
                    <a16:rowId xmlns:a16="http://schemas.microsoft.com/office/drawing/2014/main" val="3710865571"/>
                  </a:ext>
                </a:extLst>
              </a:tr>
              <a:tr h="757963">
                <a:tc>
                  <a:txBody>
                    <a:bodyPr/>
                    <a:lstStyle/>
                    <a:p>
                      <a:pPr algn="ctr">
                        <a:lnSpc>
                          <a:spcPct val="250000"/>
                        </a:lnSpc>
                      </a:pPr>
                      <a:r>
                        <a:rPr lang="en-US" sz="1800" dirty="0"/>
                        <a:t>[3]</a:t>
                      </a:r>
                      <a:endParaRPr lang="en-IN" sz="1800" dirty="0"/>
                    </a:p>
                  </a:txBody>
                  <a:tcPr/>
                </a:tc>
                <a:tc>
                  <a:txBody>
                    <a:bodyPr/>
                    <a:lstStyle/>
                    <a:p>
                      <a:pPr algn="ctr">
                        <a:lnSpc>
                          <a:spcPct val="150000"/>
                        </a:lnSpc>
                        <a:buNone/>
                      </a:pPr>
                      <a:r>
                        <a:rPr lang="en-IN" sz="1800"/>
                        <a:t>Devlin et al. (2019)</a:t>
                      </a:r>
                    </a:p>
                  </a:txBody>
                  <a:tcPr marL="86254" marR="86254" marT="43127" marB="43127" anchor="ctr"/>
                </a:tc>
                <a:tc>
                  <a:txBody>
                    <a:bodyPr/>
                    <a:lstStyle/>
                    <a:p>
                      <a:pPr algn="ctr">
                        <a:lnSpc>
                          <a:spcPct val="150000"/>
                        </a:lnSpc>
                        <a:buNone/>
                      </a:pPr>
                      <a:r>
                        <a:rPr lang="en-IN" sz="1800"/>
                        <a:t>BERT</a:t>
                      </a:r>
                    </a:p>
                  </a:txBody>
                  <a:tcPr marL="86254" marR="86254" marT="43127" marB="43127" anchor="ctr"/>
                </a:tc>
                <a:tc>
                  <a:txBody>
                    <a:bodyPr/>
                    <a:lstStyle/>
                    <a:p>
                      <a:pPr algn="ctr">
                        <a:lnSpc>
                          <a:spcPct val="150000"/>
                        </a:lnSpc>
                        <a:buNone/>
                      </a:pPr>
                      <a:r>
                        <a:rPr lang="en-IN" sz="1800" dirty="0"/>
                        <a:t>Understands sentence context</a:t>
                      </a:r>
                    </a:p>
                  </a:txBody>
                  <a:tcPr marL="86254" marR="86254" marT="43127" marB="43127" anchor="ctr"/>
                </a:tc>
                <a:tc>
                  <a:txBody>
                    <a:bodyPr/>
                    <a:lstStyle/>
                    <a:p>
                      <a:pPr algn="ctr">
                        <a:lnSpc>
                          <a:spcPct val="150000"/>
                        </a:lnSpc>
                        <a:buNone/>
                      </a:pPr>
                      <a:r>
                        <a:rPr lang="en-US" sz="1800"/>
                        <a:t>Best accuracy in NLP tasks</a:t>
                      </a:r>
                    </a:p>
                  </a:txBody>
                  <a:tcPr marL="86254" marR="86254" marT="43127" marB="43127" anchor="ctr"/>
                </a:tc>
                <a:extLst>
                  <a:ext uri="{0D108BD9-81ED-4DB2-BD59-A6C34878D82A}">
                    <a16:rowId xmlns:a16="http://schemas.microsoft.com/office/drawing/2014/main" val="2048459412"/>
                  </a:ext>
                </a:extLst>
              </a:tr>
              <a:tr h="757963">
                <a:tc>
                  <a:txBody>
                    <a:bodyPr/>
                    <a:lstStyle/>
                    <a:p>
                      <a:pPr algn="ctr">
                        <a:lnSpc>
                          <a:spcPct val="250000"/>
                        </a:lnSpc>
                      </a:pPr>
                      <a:r>
                        <a:rPr lang="en-US" sz="1800" dirty="0"/>
                        <a:t>[4]</a:t>
                      </a:r>
                      <a:endParaRPr lang="en-IN" sz="1800" dirty="0"/>
                    </a:p>
                  </a:txBody>
                  <a:tcPr/>
                </a:tc>
                <a:tc>
                  <a:txBody>
                    <a:bodyPr/>
                    <a:lstStyle/>
                    <a:p>
                      <a:pPr algn="ctr">
                        <a:lnSpc>
                          <a:spcPct val="150000"/>
                        </a:lnSpc>
                        <a:buNone/>
                      </a:pPr>
                      <a:r>
                        <a:rPr lang="en-IN" sz="1800"/>
                        <a:t>Hutto &amp; Gilbert (2014)</a:t>
                      </a:r>
                    </a:p>
                  </a:txBody>
                  <a:tcPr marL="86254" marR="86254" marT="43127" marB="43127" anchor="ctr"/>
                </a:tc>
                <a:tc>
                  <a:txBody>
                    <a:bodyPr/>
                    <a:lstStyle/>
                    <a:p>
                      <a:pPr algn="ctr">
                        <a:lnSpc>
                          <a:spcPct val="150000"/>
                        </a:lnSpc>
                        <a:buNone/>
                      </a:pPr>
                      <a:r>
                        <a:rPr lang="en-IN" sz="1800"/>
                        <a:t>VADER</a:t>
                      </a:r>
                    </a:p>
                  </a:txBody>
                  <a:tcPr marL="86254" marR="86254" marT="43127" marB="43127" anchor="ctr"/>
                </a:tc>
                <a:tc>
                  <a:txBody>
                    <a:bodyPr/>
                    <a:lstStyle/>
                    <a:p>
                      <a:pPr algn="ctr">
                        <a:lnSpc>
                          <a:spcPct val="150000"/>
                        </a:lnSpc>
                        <a:buNone/>
                      </a:pPr>
                      <a:r>
                        <a:rPr lang="en-US" sz="1800"/>
                        <a:t>Works well with short text</a:t>
                      </a:r>
                    </a:p>
                  </a:txBody>
                  <a:tcPr marL="86254" marR="86254" marT="43127" marB="43127" anchor="ctr"/>
                </a:tc>
                <a:tc>
                  <a:txBody>
                    <a:bodyPr/>
                    <a:lstStyle/>
                    <a:p>
                      <a:pPr algn="ctr">
                        <a:lnSpc>
                          <a:spcPct val="150000"/>
                        </a:lnSpc>
                        <a:buNone/>
                      </a:pPr>
                      <a:r>
                        <a:rPr lang="en-US" sz="1800"/>
                        <a:t>Good for reviews and comments</a:t>
                      </a:r>
                    </a:p>
                  </a:txBody>
                  <a:tcPr marL="86254" marR="86254" marT="43127" marB="43127" anchor="ctr"/>
                </a:tc>
                <a:extLst>
                  <a:ext uri="{0D108BD9-81ED-4DB2-BD59-A6C34878D82A}">
                    <a16:rowId xmlns:a16="http://schemas.microsoft.com/office/drawing/2014/main" val="2806845620"/>
                  </a:ext>
                </a:extLst>
              </a:tr>
              <a:tr h="1001413">
                <a:tc>
                  <a:txBody>
                    <a:bodyPr/>
                    <a:lstStyle/>
                    <a:p>
                      <a:pPr algn="ctr">
                        <a:lnSpc>
                          <a:spcPct val="250000"/>
                        </a:lnSpc>
                      </a:pPr>
                      <a:r>
                        <a:rPr lang="en-US" sz="1800" dirty="0"/>
                        <a:t>[5]</a:t>
                      </a:r>
                      <a:endParaRPr lang="en-IN" sz="1800" dirty="0"/>
                    </a:p>
                  </a:txBody>
                  <a:tcPr/>
                </a:tc>
                <a:tc>
                  <a:txBody>
                    <a:bodyPr/>
                    <a:lstStyle/>
                    <a:p>
                      <a:pPr algn="ctr">
                        <a:lnSpc>
                          <a:spcPct val="150000"/>
                        </a:lnSpc>
                        <a:buNone/>
                      </a:pPr>
                      <a:r>
                        <a:rPr lang="en-IN" sz="1800"/>
                        <a:t>Koren, Bell &amp; Volinsky (2009)</a:t>
                      </a:r>
                    </a:p>
                  </a:txBody>
                  <a:tcPr marL="86254" marR="86254" marT="43127" marB="43127" anchor="ctr"/>
                </a:tc>
                <a:tc>
                  <a:txBody>
                    <a:bodyPr/>
                    <a:lstStyle/>
                    <a:p>
                      <a:pPr algn="ctr">
                        <a:lnSpc>
                          <a:spcPct val="150000"/>
                        </a:lnSpc>
                        <a:buNone/>
                      </a:pPr>
                      <a:r>
                        <a:rPr lang="en-IN" sz="1800"/>
                        <a:t>Matrix Factorization</a:t>
                      </a:r>
                    </a:p>
                  </a:txBody>
                  <a:tcPr marL="86254" marR="86254" marT="43127" marB="43127" anchor="ctr"/>
                </a:tc>
                <a:tc>
                  <a:txBody>
                    <a:bodyPr/>
                    <a:lstStyle/>
                    <a:p>
                      <a:pPr algn="ctr">
                        <a:lnSpc>
                          <a:spcPct val="150000"/>
                        </a:lnSpc>
                        <a:buNone/>
                      </a:pPr>
                      <a:r>
                        <a:rPr lang="en-IN" sz="1800"/>
                        <a:t>Finds hidden patterns for recommendations</a:t>
                      </a:r>
                    </a:p>
                  </a:txBody>
                  <a:tcPr marL="86254" marR="86254" marT="43127" marB="43127" anchor="ctr"/>
                </a:tc>
                <a:tc>
                  <a:txBody>
                    <a:bodyPr/>
                    <a:lstStyle/>
                    <a:p>
                      <a:pPr algn="ctr">
                        <a:lnSpc>
                          <a:spcPct val="150000"/>
                        </a:lnSpc>
                        <a:buNone/>
                      </a:pPr>
                      <a:r>
                        <a:rPr lang="en-IN" sz="1800" dirty="0"/>
                        <a:t>Better personalized suggestions</a:t>
                      </a:r>
                    </a:p>
                  </a:txBody>
                  <a:tcPr marL="86254" marR="86254" marT="43127" marB="43127" anchor="ctr"/>
                </a:tc>
                <a:extLst>
                  <a:ext uri="{0D108BD9-81ED-4DB2-BD59-A6C34878D82A}">
                    <a16:rowId xmlns:a16="http://schemas.microsoft.com/office/drawing/2014/main" val="2594773044"/>
                  </a:ext>
                </a:extLst>
              </a:tr>
            </a:tbl>
          </a:graphicData>
        </a:graphic>
      </p:graphicFrame>
    </p:spTree>
    <p:extLst>
      <p:ext uri="{BB962C8B-B14F-4D97-AF65-F5344CB8AC3E}">
        <p14:creationId xmlns:p14="http://schemas.microsoft.com/office/powerpoint/2010/main" val="13636747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FE822C-34EC-6DAE-A211-0413547F39EA}"/>
              </a:ext>
            </a:extLst>
          </p:cNvPr>
          <p:cNvSpPr>
            <a:spLocks noGrp="1"/>
          </p:cNvSpPr>
          <p:nvPr>
            <p:ph type="title"/>
          </p:nvPr>
        </p:nvSpPr>
        <p:spPr>
          <a:xfrm>
            <a:off x="599766" y="359438"/>
            <a:ext cx="8457925" cy="914400"/>
          </a:xfrm>
        </p:spPr>
        <p:txBody>
          <a:bodyPr>
            <a:normAutofit/>
          </a:bodyPr>
          <a:lstStyle/>
          <a:p>
            <a:r>
              <a:rPr lang="en-US" sz="3200" b="1" dirty="0">
                <a:latin typeface="Times New Roman" panose="02020603050405020304" pitchFamily="18" charset="0"/>
                <a:cs typeface="Times New Roman" panose="02020603050405020304" pitchFamily="18" charset="0"/>
              </a:rPr>
              <a:t>SYSTEM ARCHITECTURE</a:t>
            </a:r>
            <a:endParaRPr lang="en-IN" sz="3200" b="1" dirty="0">
              <a:latin typeface="Times New Roman" panose="02020603050405020304" pitchFamily="18" charset="0"/>
              <a:cs typeface="Times New Roman" panose="02020603050405020304" pitchFamily="18" charset="0"/>
            </a:endParaRPr>
          </a:p>
        </p:txBody>
      </p:sp>
      <p:pic>
        <p:nvPicPr>
          <p:cNvPr id="4" name="Content Placeholder 3">
            <a:extLst>
              <a:ext uri="{FF2B5EF4-FFF2-40B4-BE49-F238E27FC236}">
                <a16:creationId xmlns:a16="http://schemas.microsoft.com/office/drawing/2014/main" id="{5A059C34-4E0F-449E-71DD-FE363533E615}"/>
              </a:ext>
            </a:extLst>
          </p:cNvPr>
          <p:cNvPicPr>
            <a:picLocks noGrp="1" noChangeAspect="1"/>
          </p:cNvPicPr>
          <p:nvPr>
            <p:ph idx="1"/>
          </p:nvPr>
        </p:nvPicPr>
        <p:blipFill>
          <a:blip r:embed="rId2"/>
          <a:stretch>
            <a:fillRect/>
          </a:stretch>
        </p:blipFill>
        <p:spPr>
          <a:xfrm>
            <a:off x="951819" y="1739865"/>
            <a:ext cx="8965937" cy="4291965"/>
          </a:xfrm>
          <a:prstGeom prst="rect">
            <a:avLst/>
          </a:prstGeom>
        </p:spPr>
      </p:pic>
    </p:spTree>
    <p:extLst>
      <p:ext uri="{BB962C8B-B14F-4D97-AF65-F5344CB8AC3E}">
        <p14:creationId xmlns:p14="http://schemas.microsoft.com/office/powerpoint/2010/main" val="29366761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3564C2-A23C-B8F2-1200-FAD5D38B4C76}"/>
              </a:ext>
            </a:extLst>
          </p:cNvPr>
          <p:cNvSpPr>
            <a:spLocks noGrp="1"/>
          </p:cNvSpPr>
          <p:nvPr>
            <p:ph type="title"/>
          </p:nvPr>
        </p:nvSpPr>
        <p:spPr>
          <a:xfrm>
            <a:off x="516912" y="311311"/>
            <a:ext cx="8596668" cy="1010653"/>
          </a:xfrm>
        </p:spPr>
        <p:txBody>
          <a:bodyPr>
            <a:normAutofit/>
          </a:bodyPr>
          <a:lstStyle/>
          <a:p>
            <a:r>
              <a:rPr lang="en-US" sz="3200" b="1" dirty="0">
                <a:latin typeface="Times New Roman" panose="02020603050405020304" pitchFamily="18" charset="0"/>
                <a:cs typeface="Times New Roman" panose="02020603050405020304" pitchFamily="18" charset="0"/>
              </a:rPr>
              <a:t>DATA FLOW DIAGRAM</a:t>
            </a:r>
            <a:endParaRPr lang="en-IN" sz="3200" b="1" dirty="0">
              <a:latin typeface="Times New Roman" panose="02020603050405020304" pitchFamily="18" charset="0"/>
              <a:cs typeface="Times New Roman" panose="02020603050405020304" pitchFamily="18" charset="0"/>
            </a:endParaRPr>
          </a:p>
        </p:txBody>
      </p:sp>
      <p:pic>
        <p:nvPicPr>
          <p:cNvPr id="6" name="Content Placeholder 5">
            <a:extLst>
              <a:ext uri="{FF2B5EF4-FFF2-40B4-BE49-F238E27FC236}">
                <a16:creationId xmlns:a16="http://schemas.microsoft.com/office/drawing/2014/main" id="{95DFF93B-786D-6ADF-8607-2B49BDEFF7DB}"/>
              </a:ext>
            </a:extLst>
          </p:cNvPr>
          <p:cNvPicPr>
            <a:picLocks noGrp="1" noChangeAspect="1"/>
          </p:cNvPicPr>
          <p:nvPr>
            <p:ph idx="1"/>
          </p:nvPr>
        </p:nvPicPr>
        <p:blipFill>
          <a:blip r:embed="rId2"/>
          <a:stretch>
            <a:fillRect/>
          </a:stretch>
        </p:blipFill>
        <p:spPr>
          <a:xfrm>
            <a:off x="349291" y="2743200"/>
            <a:ext cx="5145906" cy="1371600"/>
          </a:xfrm>
          <a:prstGeom prst="rect">
            <a:avLst/>
          </a:prstGeom>
        </p:spPr>
      </p:pic>
      <p:sp>
        <p:nvSpPr>
          <p:cNvPr id="7" name="TextBox 6">
            <a:extLst>
              <a:ext uri="{FF2B5EF4-FFF2-40B4-BE49-F238E27FC236}">
                <a16:creationId xmlns:a16="http://schemas.microsoft.com/office/drawing/2014/main" id="{8D440F50-79E3-5D15-DCE2-FFE0388EE6F8}"/>
              </a:ext>
            </a:extLst>
          </p:cNvPr>
          <p:cNvSpPr txBox="1"/>
          <p:nvPr/>
        </p:nvSpPr>
        <p:spPr>
          <a:xfrm>
            <a:off x="1363579" y="5483813"/>
            <a:ext cx="4732421"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Level 0 DFD diagram</a:t>
            </a:r>
            <a:endParaRPr lang="en-IN" sz="24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FFB9E2F2-FB08-8055-10B7-3C5565A7EA09}"/>
              </a:ext>
            </a:extLst>
          </p:cNvPr>
          <p:cNvPicPr>
            <a:picLocks noChangeAspect="1"/>
          </p:cNvPicPr>
          <p:nvPr/>
        </p:nvPicPr>
        <p:blipFill>
          <a:blip r:embed="rId3"/>
          <a:stretch>
            <a:fillRect/>
          </a:stretch>
        </p:blipFill>
        <p:spPr>
          <a:xfrm>
            <a:off x="6096000" y="925977"/>
            <a:ext cx="5542949" cy="4148083"/>
          </a:xfrm>
          <a:prstGeom prst="rect">
            <a:avLst/>
          </a:prstGeom>
        </p:spPr>
      </p:pic>
      <p:sp>
        <p:nvSpPr>
          <p:cNvPr id="9" name="TextBox 8">
            <a:extLst>
              <a:ext uri="{FF2B5EF4-FFF2-40B4-BE49-F238E27FC236}">
                <a16:creationId xmlns:a16="http://schemas.microsoft.com/office/drawing/2014/main" id="{6AA08013-D8E4-BC44-AEE0-D7D6A4757F3B}"/>
              </a:ext>
            </a:extLst>
          </p:cNvPr>
          <p:cNvSpPr txBox="1"/>
          <p:nvPr/>
        </p:nvSpPr>
        <p:spPr>
          <a:xfrm>
            <a:off x="7363327" y="5470358"/>
            <a:ext cx="4331368"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Level 1 DFD diagram</a:t>
            </a:r>
          </a:p>
        </p:txBody>
      </p:sp>
    </p:spTree>
    <p:extLst>
      <p:ext uri="{BB962C8B-B14F-4D97-AF65-F5344CB8AC3E}">
        <p14:creationId xmlns:p14="http://schemas.microsoft.com/office/powerpoint/2010/main" val="30496103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39A6E-A1E6-59EF-FDB2-7FCCFF462588}"/>
              </a:ext>
            </a:extLst>
          </p:cNvPr>
          <p:cNvSpPr>
            <a:spLocks noGrp="1"/>
          </p:cNvSpPr>
          <p:nvPr>
            <p:ph type="title"/>
          </p:nvPr>
        </p:nvSpPr>
        <p:spPr/>
        <p:txBody>
          <a:bodyPr>
            <a:normAutofit/>
          </a:bodyPr>
          <a:lstStyle/>
          <a:p>
            <a:r>
              <a:rPr lang="en-US" sz="3200" b="1" dirty="0">
                <a:latin typeface="Times New Roman" panose="02020603050405020304" pitchFamily="18" charset="0"/>
                <a:cs typeface="Times New Roman" panose="02020603050405020304" pitchFamily="18" charset="0"/>
              </a:rPr>
              <a:t>TOOLS AND TECHNOLOGIES</a:t>
            </a:r>
            <a:endParaRPr lang="en-IN" sz="3200" b="1" dirty="0"/>
          </a:p>
        </p:txBody>
      </p:sp>
      <p:sp>
        <p:nvSpPr>
          <p:cNvPr id="3" name="Content Placeholder 2">
            <a:extLst>
              <a:ext uri="{FF2B5EF4-FFF2-40B4-BE49-F238E27FC236}">
                <a16:creationId xmlns:a16="http://schemas.microsoft.com/office/drawing/2014/main" id="{121D8E0B-B3B1-1989-13FD-5DC4C43D38E3}"/>
              </a:ext>
            </a:extLst>
          </p:cNvPr>
          <p:cNvSpPr>
            <a:spLocks noGrp="1"/>
          </p:cNvSpPr>
          <p:nvPr>
            <p:ph sz="half" idx="1"/>
          </p:nvPr>
        </p:nvSpPr>
        <p:spPr>
          <a:xfrm>
            <a:off x="677334" y="2160589"/>
            <a:ext cx="5290847" cy="3880772"/>
          </a:xfrm>
        </p:spPr>
        <p:txBody>
          <a:bodyPr>
            <a:normAutofit/>
          </a:bodyPr>
          <a:lstStyle/>
          <a:p>
            <a:pPr marL="0" lvl="0" indent="0">
              <a:lnSpc>
                <a:spcPct val="150000"/>
              </a:lnSpc>
              <a:buNone/>
            </a:pPr>
            <a:r>
              <a:rPr lang="en-IN" sz="1900" b="1" dirty="0"/>
              <a:t>SOFTWARE REQUIREMENTS</a:t>
            </a:r>
            <a:endParaRPr lang="en-IN" sz="1900" b="1" i="1" dirty="0"/>
          </a:p>
          <a:p>
            <a:pPr>
              <a:lnSpc>
                <a:spcPct val="150000"/>
              </a:lnSpc>
              <a:buFont typeface="Wingdings" panose="05000000000000000000" pitchFamily="2" charset="2"/>
              <a:buChar char="Ø"/>
            </a:pPr>
            <a:r>
              <a:rPr lang="en-IN" sz="1900" dirty="0"/>
              <a:t>Operating System: Debian Linux / Windows</a:t>
            </a:r>
          </a:p>
          <a:p>
            <a:pPr>
              <a:lnSpc>
                <a:spcPct val="150000"/>
              </a:lnSpc>
              <a:buFont typeface="Wingdings" panose="05000000000000000000" pitchFamily="2" charset="2"/>
              <a:buChar char="Ø"/>
            </a:pPr>
            <a:r>
              <a:rPr lang="en-IN" sz="1900" dirty="0"/>
              <a:t>IDE/Editor: Atom</a:t>
            </a:r>
          </a:p>
          <a:p>
            <a:pPr>
              <a:lnSpc>
                <a:spcPct val="150000"/>
              </a:lnSpc>
              <a:buFont typeface="Wingdings" panose="05000000000000000000" pitchFamily="2" charset="2"/>
              <a:buChar char="Ø"/>
            </a:pPr>
            <a:r>
              <a:rPr lang="en-IN" sz="1900" dirty="0"/>
              <a:t>Programming Language: Python 3.8</a:t>
            </a:r>
          </a:p>
          <a:p>
            <a:pPr>
              <a:lnSpc>
                <a:spcPct val="150000"/>
              </a:lnSpc>
              <a:buFont typeface="Wingdings" panose="05000000000000000000" pitchFamily="2" charset="2"/>
              <a:buChar char="Ø"/>
            </a:pPr>
            <a:r>
              <a:rPr lang="en-IN" sz="1900" dirty="0"/>
              <a:t>Frameworks &amp; Tools: Django, HTML, CSS, Bootstrap, JavaScript</a:t>
            </a:r>
          </a:p>
          <a:p>
            <a:pPr>
              <a:lnSpc>
                <a:spcPct val="150000"/>
              </a:lnSpc>
              <a:buFont typeface="Wingdings" panose="05000000000000000000" pitchFamily="2" charset="2"/>
              <a:buChar char="Ø"/>
            </a:pPr>
            <a:r>
              <a:rPr lang="en-IN" sz="1900" dirty="0"/>
              <a:t>Utilities: Browser, Terminal</a:t>
            </a:r>
          </a:p>
          <a:p>
            <a:pPr>
              <a:lnSpc>
                <a:spcPct val="150000"/>
              </a:lnSpc>
              <a:buFont typeface="Wingdings" panose="05000000000000000000" pitchFamily="2" charset="2"/>
              <a:buChar char="Ø"/>
            </a:pPr>
            <a:endParaRPr lang="en-IN" dirty="0"/>
          </a:p>
        </p:txBody>
      </p:sp>
      <p:sp>
        <p:nvSpPr>
          <p:cNvPr id="4" name="Content Placeholder 3">
            <a:extLst>
              <a:ext uri="{FF2B5EF4-FFF2-40B4-BE49-F238E27FC236}">
                <a16:creationId xmlns:a16="http://schemas.microsoft.com/office/drawing/2014/main" id="{F8774DF4-EF95-2FF3-EBA2-04BE3357C790}"/>
              </a:ext>
            </a:extLst>
          </p:cNvPr>
          <p:cNvSpPr>
            <a:spLocks noGrp="1"/>
          </p:cNvSpPr>
          <p:nvPr>
            <p:ph sz="half" idx="2"/>
          </p:nvPr>
        </p:nvSpPr>
        <p:spPr>
          <a:xfrm>
            <a:off x="6725266" y="2160589"/>
            <a:ext cx="4650656" cy="3880773"/>
          </a:xfrm>
        </p:spPr>
        <p:txBody>
          <a:bodyPr>
            <a:normAutofit/>
          </a:bodyPr>
          <a:lstStyle/>
          <a:p>
            <a:pPr marL="0" lvl="0" indent="0">
              <a:lnSpc>
                <a:spcPct val="160000"/>
              </a:lnSpc>
              <a:buNone/>
            </a:pPr>
            <a:r>
              <a:rPr lang="en-IN" sz="1900" b="1" dirty="0"/>
              <a:t>HARDWARE REQUIREMENTS</a:t>
            </a:r>
            <a:endParaRPr lang="en-IN" sz="1900" b="1" i="1" dirty="0"/>
          </a:p>
          <a:p>
            <a:pPr>
              <a:lnSpc>
                <a:spcPct val="160000"/>
              </a:lnSpc>
              <a:buFont typeface="Wingdings" panose="05000000000000000000" pitchFamily="2" charset="2"/>
              <a:buChar char="Ø"/>
            </a:pPr>
            <a:r>
              <a:rPr lang="en-IN" sz="1900" dirty="0"/>
              <a:t>RAM: 2 GB (minimum)</a:t>
            </a:r>
          </a:p>
          <a:p>
            <a:pPr>
              <a:lnSpc>
                <a:spcPct val="160000"/>
              </a:lnSpc>
              <a:buFont typeface="Wingdings" panose="05000000000000000000" pitchFamily="2" charset="2"/>
              <a:buChar char="Ø"/>
            </a:pPr>
            <a:r>
              <a:rPr lang="en-IN" sz="1900" dirty="0"/>
              <a:t>Storage: 3 GB Disk Space</a:t>
            </a:r>
          </a:p>
          <a:p>
            <a:pPr>
              <a:lnSpc>
                <a:spcPct val="160000"/>
              </a:lnSpc>
              <a:buFont typeface="Wingdings" panose="05000000000000000000" pitchFamily="2" charset="2"/>
              <a:buChar char="Ø"/>
            </a:pPr>
            <a:r>
              <a:rPr lang="en-IN" sz="1900" dirty="0"/>
              <a:t>Input Devices: Touchpad / Mouse</a:t>
            </a:r>
          </a:p>
          <a:p>
            <a:endParaRPr lang="en-IN" dirty="0"/>
          </a:p>
        </p:txBody>
      </p:sp>
    </p:spTree>
    <p:extLst>
      <p:ext uri="{BB962C8B-B14F-4D97-AF65-F5344CB8AC3E}">
        <p14:creationId xmlns:p14="http://schemas.microsoft.com/office/powerpoint/2010/main" val="11990478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BFECD4-A7EF-9B2F-EB5E-C03D2B1F0B19}"/>
              </a:ext>
            </a:extLst>
          </p:cNvPr>
          <p:cNvSpPr>
            <a:spLocks noGrp="1"/>
          </p:cNvSpPr>
          <p:nvPr>
            <p:ph type="title"/>
          </p:nvPr>
        </p:nvSpPr>
        <p:spPr>
          <a:xfrm>
            <a:off x="538480" y="477520"/>
            <a:ext cx="8461202" cy="934720"/>
          </a:xfrm>
        </p:spPr>
        <p:txBody>
          <a:bodyPr/>
          <a:lstStyle/>
          <a:p>
            <a:r>
              <a:rPr lang="en-IN" sz="3200" b="1" dirty="0">
                <a:latin typeface="Times New Roman" panose="02020603050405020304" pitchFamily="18" charset="0"/>
                <a:cs typeface="Times New Roman" panose="02020603050405020304" pitchFamily="18" charset="0"/>
              </a:rPr>
              <a:t>Methodology</a:t>
            </a:r>
            <a:r>
              <a:rPr lang="en-IN" dirty="0">
                <a:latin typeface="Times New Roman" panose="02020603050405020304" pitchFamily="18" charset="0"/>
                <a:cs typeface="Times New Roman" panose="02020603050405020304" pitchFamily="18" charset="0"/>
              </a:rPr>
              <a:t>/</a:t>
            </a:r>
            <a:r>
              <a:rPr lang="en-IN" b="1" dirty="0">
                <a:latin typeface="Times New Roman" panose="02020603050405020304" pitchFamily="18" charset="0"/>
                <a:cs typeface="Times New Roman" panose="02020603050405020304" pitchFamily="18" charset="0"/>
              </a:rPr>
              <a:t>implementation</a:t>
            </a: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details</a:t>
            </a:r>
          </a:p>
        </p:txBody>
      </p:sp>
      <p:sp>
        <p:nvSpPr>
          <p:cNvPr id="3" name="Content Placeholder 2">
            <a:extLst>
              <a:ext uri="{FF2B5EF4-FFF2-40B4-BE49-F238E27FC236}">
                <a16:creationId xmlns:a16="http://schemas.microsoft.com/office/drawing/2014/main" id="{19B70D67-4DE6-6520-E5D1-9B270F43146B}"/>
              </a:ext>
            </a:extLst>
          </p:cNvPr>
          <p:cNvSpPr>
            <a:spLocks noGrp="1"/>
          </p:cNvSpPr>
          <p:nvPr>
            <p:ph idx="1"/>
          </p:nvPr>
        </p:nvSpPr>
        <p:spPr>
          <a:xfrm>
            <a:off x="203200" y="1635760"/>
            <a:ext cx="11143226" cy="4856480"/>
          </a:xfrm>
        </p:spPr>
        <p:txBody>
          <a:bodyPr>
            <a:normAutofit/>
          </a:bodyPr>
          <a:lstStyle/>
          <a:p>
            <a:pPr marL="0" indent="0">
              <a:buNone/>
            </a:pPr>
            <a:r>
              <a:rPr lang="en-US" b="1" dirty="0">
                <a:latin typeface="Times New Roman" panose="02020603050405020304" pitchFamily="18" charset="0"/>
                <a:cs typeface="Times New Roman" panose="02020603050405020304" pitchFamily="18" charset="0"/>
              </a:rPr>
              <a:t>Methodology — Step by Step</a:t>
            </a:r>
          </a:p>
          <a:p>
            <a:pPr marL="0" indent="0">
              <a:buNone/>
            </a:pPr>
            <a:endParaRPr lang="en-US" b="1"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Get Data</a:t>
            </a:r>
            <a:r>
              <a:rPr lang="en-US" dirty="0">
                <a:latin typeface="Times New Roman" panose="02020603050405020304" pitchFamily="18" charset="0"/>
                <a:cs typeface="Times New Roman" panose="02020603050405020304" pitchFamily="18" charset="0"/>
              </a:rPr>
              <a:t> – Collect medicine names, star ratings, and text reviews from CSV or database.</a:t>
            </a:r>
          </a:p>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Clean Text</a:t>
            </a:r>
            <a:r>
              <a:rPr lang="en-US" dirty="0">
                <a:latin typeface="Times New Roman" panose="02020603050405020304" pitchFamily="18" charset="0"/>
                <a:cs typeface="Times New Roman" panose="02020603050405020304" pitchFamily="18" charset="0"/>
              </a:rPr>
              <a:t> – Remove HTML, punctuation, </a:t>
            </a:r>
            <a:r>
              <a:rPr lang="en-US" dirty="0" err="1">
                <a:latin typeface="Times New Roman" panose="02020603050405020304" pitchFamily="18" charset="0"/>
                <a:cs typeface="Times New Roman" panose="02020603050405020304" pitchFamily="18" charset="0"/>
              </a:rPr>
              <a:t>stopwords</a:t>
            </a:r>
            <a:r>
              <a:rPr lang="en-US" dirty="0">
                <a:latin typeface="Times New Roman" panose="02020603050405020304" pitchFamily="18" charset="0"/>
                <a:cs typeface="Times New Roman" panose="02020603050405020304" pitchFamily="18" charset="0"/>
              </a:rPr>
              <a:t>; convert to lowercase and lemmatize words.</a:t>
            </a:r>
          </a:p>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Convert Text to Numbers</a:t>
            </a:r>
            <a:r>
              <a:rPr lang="en-US" dirty="0">
                <a:latin typeface="Times New Roman" panose="02020603050405020304" pitchFamily="18" charset="0"/>
                <a:cs typeface="Times New Roman" panose="02020603050405020304" pitchFamily="18" charset="0"/>
              </a:rPr>
              <a:t> – Use TF–IDF or word embeddings (Word2Vec).</a:t>
            </a:r>
          </a:p>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Train Model</a:t>
            </a:r>
            <a:r>
              <a:rPr lang="en-US" dirty="0">
                <a:latin typeface="Times New Roman" panose="02020603050405020304" pitchFamily="18" charset="0"/>
                <a:cs typeface="Times New Roman" panose="02020603050405020304" pitchFamily="18" charset="0"/>
              </a:rPr>
              <a:t> – Use LSTM or simple classifiers (Logistic Regression / SVM) to map reviews to sentiment or condition.</a:t>
            </a:r>
          </a:p>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Sentiment Scoring</a:t>
            </a:r>
            <a:r>
              <a:rPr lang="en-US" dirty="0">
                <a:latin typeface="Times New Roman" panose="02020603050405020304" pitchFamily="18" charset="0"/>
                <a:cs typeface="Times New Roman" panose="02020603050405020304" pitchFamily="18" charset="0"/>
              </a:rPr>
              <a:t> – Get positive, neutral, or negative sentiment using VADER or model output.</a:t>
            </a:r>
          </a:p>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Make Feature Matrix (FEM)</a:t>
            </a:r>
            <a:r>
              <a:rPr lang="en-US" dirty="0">
                <a:latin typeface="Times New Roman" panose="02020603050405020304" pitchFamily="18" charset="0"/>
                <a:cs typeface="Times New Roman" panose="02020603050405020304" pitchFamily="18" charset="0"/>
              </a:rPr>
              <a:t> – Each medicine gets features like sentiment score, avg rating, usefulness, key tokens.</a:t>
            </a:r>
          </a:p>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Rank &amp; Recommend</a:t>
            </a:r>
            <a:r>
              <a:rPr lang="en-US" dirty="0">
                <a:latin typeface="Times New Roman" panose="02020603050405020304" pitchFamily="18" charset="0"/>
                <a:cs typeface="Times New Roman" panose="02020603050405020304" pitchFamily="18" charset="0"/>
              </a:rPr>
              <a:t> – Combine ratings, sentiment, and collaborative signals to list top medicines.</a:t>
            </a:r>
          </a:p>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Show Results</a:t>
            </a:r>
            <a:r>
              <a:rPr lang="en-US" dirty="0">
                <a:latin typeface="Times New Roman" panose="02020603050405020304" pitchFamily="18" charset="0"/>
                <a:cs typeface="Times New Roman" panose="02020603050405020304" pitchFamily="18" charset="0"/>
              </a:rPr>
              <a:t> – Display ranked list with explanations and simple charts on the web page.</a:t>
            </a:r>
          </a:p>
          <a:p>
            <a:pPr>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513180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2D2959-4CBB-70F8-8A48-F514DFABD0F7}"/>
              </a:ext>
            </a:extLst>
          </p:cNvPr>
          <p:cNvSpPr>
            <a:spLocks noGrp="1"/>
          </p:cNvSpPr>
          <p:nvPr>
            <p:ph type="title"/>
          </p:nvPr>
        </p:nvSpPr>
        <p:spPr>
          <a:xfrm>
            <a:off x="721360" y="609600"/>
            <a:ext cx="8552642" cy="1036320"/>
          </a:xfrm>
        </p:spPr>
        <p:txBody>
          <a:bodyPr>
            <a:normAutofit/>
          </a:bodyPr>
          <a:lstStyle/>
          <a:p>
            <a:r>
              <a:rPr lang="en-US" sz="3200" b="1" dirty="0">
                <a:latin typeface="Times New Roman" panose="02020603050405020304" pitchFamily="18" charset="0"/>
                <a:cs typeface="Times New Roman" panose="02020603050405020304" pitchFamily="18" charset="0"/>
              </a:rPr>
              <a:t>Algorithms</a:t>
            </a:r>
            <a:endParaRPr lang="en-IN"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2F23136-4DB4-E873-C5C7-4D7DB3FFEE48}"/>
              </a:ext>
            </a:extLst>
          </p:cNvPr>
          <p:cNvSpPr>
            <a:spLocks noGrp="1"/>
          </p:cNvSpPr>
          <p:nvPr>
            <p:ph idx="1"/>
          </p:nvPr>
        </p:nvSpPr>
        <p:spPr>
          <a:xfrm>
            <a:off x="386080" y="1869440"/>
            <a:ext cx="10353040" cy="4622800"/>
          </a:xfrm>
        </p:spPr>
        <p:txBody>
          <a:bodyPr>
            <a:normAutofit/>
          </a:bodyPr>
          <a:lstStyle/>
          <a:p>
            <a:pPr marL="0" indent="0">
              <a:buNone/>
            </a:pPr>
            <a:r>
              <a:rPr lang="en-US" b="1" dirty="0">
                <a:latin typeface="Times New Roman" panose="02020603050405020304" pitchFamily="18" charset="0"/>
                <a:cs typeface="Times New Roman" panose="02020603050405020304" pitchFamily="18" charset="0"/>
              </a:rPr>
              <a:t>Algorithms</a:t>
            </a:r>
          </a:p>
          <a:p>
            <a:pPr marL="0" indent="0">
              <a:buNone/>
            </a:pPr>
            <a:endParaRPr lang="en-US"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TF–IDF</a:t>
            </a:r>
            <a:r>
              <a:rPr lang="en-US" dirty="0">
                <a:latin typeface="Times New Roman" panose="02020603050405020304" pitchFamily="18" charset="0"/>
                <a:cs typeface="Times New Roman" panose="02020603050405020304" pitchFamily="18" charset="0"/>
              </a:rPr>
              <a:t> – Converts review words into numbers to show important words.</a:t>
            </a:r>
          </a:p>
          <a:p>
            <a:r>
              <a:rPr lang="en-US" b="1" dirty="0">
                <a:latin typeface="Times New Roman" panose="02020603050405020304" pitchFamily="18" charset="0"/>
                <a:cs typeface="Times New Roman" panose="02020603050405020304" pitchFamily="18" charset="0"/>
              </a:rPr>
              <a:t>LSTM / Text Models</a:t>
            </a:r>
            <a:r>
              <a:rPr lang="en-US" dirty="0">
                <a:latin typeface="Times New Roman" panose="02020603050405020304" pitchFamily="18" charset="0"/>
                <a:cs typeface="Times New Roman" panose="02020603050405020304" pitchFamily="18" charset="0"/>
              </a:rPr>
              <a:t> – It is used to understand the sentence/review</a:t>
            </a:r>
          </a:p>
          <a:p>
            <a:r>
              <a:rPr lang="en-US" b="1" dirty="0">
                <a:latin typeface="Times New Roman" panose="02020603050405020304" pitchFamily="18" charset="0"/>
                <a:cs typeface="Times New Roman" panose="02020603050405020304" pitchFamily="18" charset="0"/>
              </a:rPr>
              <a:t>Logistic Regression</a:t>
            </a:r>
            <a:r>
              <a:rPr lang="en-US" dirty="0">
                <a:latin typeface="Times New Roman" panose="02020603050405020304" pitchFamily="18" charset="0"/>
                <a:cs typeface="Times New Roman" panose="02020603050405020304" pitchFamily="18" charset="0"/>
              </a:rPr>
              <a:t>– Simple models for classifying conditions in small datasets.</a:t>
            </a:r>
          </a:p>
          <a:p>
            <a:r>
              <a:rPr lang="en-US" b="1" dirty="0">
                <a:latin typeface="Times New Roman" panose="02020603050405020304" pitchFamily="18" charset="0"/>
                <a:cs typeface="Times New Roman" panose="02020603050405020304" pitchFamily="18" charset="0"/>
              </a:rPr>
              <a:t>VADER</a:t>
            </a:r>
            <a:r>
              <a:rPr lang="en-US" dirty="0">
                <a:latin typeface="Times New Roman" panose="02020603050405020304" pitchFamily="18" charset="0"/>
                <a:cs typeface="Times New Roman" panose="02020603050405020304" pitchFamily="18" charset="0"/>
              </a:rPr>
              <a:t> – Quick rule-based sentiment analysis for short reviews.</a:t>
            </a:r>
          </a:p>
          <a:p>
            <a:r>
              <a:rPr lang="en-US" b="1" dirty="0">
                <a:latin typeface="Times New Roman" panose="02020603050405020304" pitchFamily="18" charset="0"/>
                <a:cs typeface="Times New Roman" panose="02020603050405020304" pitchFamily="18" charset="0"/>
              </a:rPr>
              <a:t>Rule-based Ranking</a:t>
            </a:r>
            <a:r>
              <a:rPr lang="en-US" dirty="0">
                <a:latin typeface="Times New Roman" panose="02020603050405020304" pitchFamily="18" charset="0"/>
                <a:cs typeface="Times New Roman" panose="02020603050405020304" pitchFamily="18" charset="0"/>
              </a:rPr>
              <a:t> – Example: pick medicines with rating ≥ 9 and useful count ≥ 100, then sort.</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611798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259C9-1834-7946-EC22-88D1FED5958C}"/>
              </a:ext>
            </a:extLst>
          </p:cNvPr>
          <p:cNvSpPr>
            <a:spLocks noGrp="1"/>
          </p:cNvSpPr>
          <p:nvPr>
            <p:ph type="title"/>
          </p:nvPr>
        </p:nvSpPr>
        <p:spPr>
          <a:xfrm>
            <a:off x="701040" y="609600"/>
            <a:ext cx="8572962" cy="1026160"/>
          </a:xfrm>
        </p:spPr>
        <p:txBody>
          <a:bodyPr/>
          <a:lstStyle/>
          <a:p>
            <a:r>
              <a:rPr lang="en-US" b="1" dirty="0">
                <a:latin typeface="Times New Roman" panose="02020603050405020304" pitchFamily="18" charset="0"/>
                <a:cs typeface="Times New Roman" panose="02020603050405020304" pitchFamily="18" charset="0"/>
              </a:rPr>
              <a:t>Key Modules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942757B-C46F-D14E-34D6-3F08EC8D9F69}"/>
              </a:ext>
            </a:extLst>
          </p:cNvPr>
          <p:cNvSpPr>
            <a:spLocks noGrp="1"/>
          </p:cNvSpPr>
          <p:nvPr>
            <p:ph idx="1"/>
          </p:nvPr>
        </p:nvSpPr>
        <p:spPr>
          <a:xfrm>
            <a:off x="396240" y="2160589"/>
            <a:ext cx="9926320" cy="4280851"/>
          </a:xfrm>
        </p:spPr>
        <p:txBody>
          <a:bodyPr/>
          <a:lstStyle/>
          <a:p>
            <a:pPr marL="0" indent="0">
              <a:buNone/>
            </a:pPr>
            <a:r>
              <a:rPr lang="en-US" b="1" dirty="0">
                <a:latin typeface="Times New Roman" panose="02020603050405020304" pitchFamily="18" charset="0"/>
                <a:cs typeface="Times New Roman" panose="02020603050405020304" pitchFamily="18" charset="0"/>
              </a:rPr>
              <a:t>Key Modules</a:t>
            </a:r>
          </a:p>
          <a:p>
            <a:pPr marL="0" indent="0">
              <a:buNone/>
            </a:pPr>
            <a:endParaRPr lang="en-US" b="1"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Authentication</a:t>
            </a:r>
            <a:r>
              <a:rPr lang="en-US" dirty="0">
                <a:latin typeface="Times New Roman" panose="02020603050405020304" pitchFamily="18" charset="0"/>
                <a:cs typeface="Times New Roman" panose="02020603050405020304" pitchFamily="18" charset="0"/>
              </a:rPr>
              <a:t> – Signup/login for verified users.</a:t>
            </a:r>
          </a:p>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Review Collection</a:t>
            </a:r>
            <a:r>
              <a:rPr lang="en-US" dirty="0">
                <a:latin typeface="Times New Roman" panose="02020603050405020304" pitchFamily="18" charset="0"/>
                <a:cs typeface="Times New Roman" panose="02020603050405020304" pitchFamily="18" charset="0"/>
              </a:rPr>
              <a:t> – Collect reviews from users or trusted sites.</a:t>
            </a:r>
          </a:p>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Data Cleaning</a:t>
            </a:r>
            <a:r>
              <a:rPr lang="en-US" dirty="0">
                <a:latin typeface="Times New Roman" panose="02020603050405020304" pitchFamily="18" charset="0"/>
                <a:cs typeface="Times New Roman" panose="02020603050405020304" pitchFamily="18" charset="0"/>
              </a:rPr>
              <a:t> – Remove noise and prepare text for analysis.</a:t>
            </a:r>
          </a:p>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Sentiment Analysis</a:t>
            </a:r>
            <a:r>
              <a:rPr lang="en-US" dirty="0">
                <a:latin typeface="Times New Roman" panose="02020603050405020304" pitchFamily="18" charset="0"/>
                <a:cs typeface="Times New Roman" panose="02020603050405020304" pitchFamily="18" charset="0"/>
              </a:rPr>
              <a:t> – Assign sentiment label or score to each review.</a:t>
            </a:r>
          </a:p>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Feature Extraction</a:t>
            </a:r>
            <a:r>
              <a:rPr lang="en-US" dirty="0">
                <a:latin typeface="Times New Roman" panose="02020603050405020304" pitchFamily="18" charset="0"/>
                <a:cs typeface="Times New Roman" panose="02020603050405020304" pitchFamily="18" charset="0"/>
              </a:rPr>
              <a:t> – Build FEM (medicine × features).</a:t>
            </a:r>
          </a:p>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Recommendation Engine</a:t>
            </a:r>
            <a:r>
              <a:rPr lang="en-US" dirty="0">
                <a:latin typeface="Times New Roman" panose="02020603050405020304" pitchFamily="18" charset="0"/>
                <a:cs typeface="Times New Roman" panose="02020603050405020304" pitchFamily="18" charset="0"/>
              </a:rPr>
              <a:t> – Combine ratings, sentiment, and features to rank medicines.</a:t>
            </a:r>
          </a:p>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Visualization</a:t>
            </a:r>
            <a:r>
              <a:rPr lang="en-US" dirty="0">
                <a:latin typeface="Times New Roman" panose="02020603050405020304" pitchFamily="18" charset="0"/>
                <a:cs typeface="Times New Roman" panose="02020603050405020304" pitchFamily="18" charset="0"/>
              </a:rPr>
              <a:t> – Show ranked lists and charts for easy understanding.</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76399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F410D0-0952-EAF1-E5EA-5ECCC0472026}"/>
              </a:ext>
            </a:extLst>
          </p:cNvPr>
          <p:cNvSpPr>
            <a:spLocks noGrp="1"/>
          </p:cNvSpPr>
          <p:nvPr>
            <p:ph type="title"/>
          </p:nvPr>
        </p:nvSpPr>
        <p:spPr>
          <a:xfrm>
            <a:off x="865238" y="609600"/>
            <a:ext cx="8408763" cy="855406"/>
          </a:xfrm>
        </p:spPr>
        <p:txBody>
          <a:bodyPr>
            <a:normAutofit/>
          </a:bodyPr>
          <a:lstStyle/>
          <a:p>
            <a:r>
              <a:rPr lang="en-US" sz="3200" b="1" dirty="0">
                <a:latin typeface="Times New Roman" panose="02020603050405020304" pitchFamily="18" charset="0"/>
                <a:cs typeface="Times New Roman" panose="02020603050405020304" pitchFamily="18" charset="0"/>
              </a:rPr>
              <a:t>RESULTS/OUTPUT</a:t>
            </a:r>
            <a:endParaRPr lang="en-IN" sz="3200" b="1" dirty="0">
              <a:latin typeface="Times New Roman" panose="02020603050405020304" pitchFamily="18" charset="0"/>
              <a:cs typeface="Times New Roman" panose="02020603050405020304" pitchFamily="18" charset="0"/>
            </a:endParaRPr>
          </a:p>
        </p:txBody>
      </p:sp>
      <p:pic>
        <p:nvPicPr>
          <p:cNvPr id="4" name="Content Placeholder 3">
            <a:extLst>
              <a:ext uri="{FF2B5EF4-FFF2-40B4-BE49-F238E27FC236}">
                <a16:creationId xmlns:a16="http://schemas.microsoft.com/office/drawing/2014/main" id="{F99B92A9-560C-60A0-E0AD-5AC046971D74}"/>
              </a:ext>
            </a:extLst>
          </p:cNvPr>
          <p:cNvPicPr>
            <a:picLocks noGrp="1" noChangeAspect="1"/>
          </p:cNvPicPr>
          <p:nvPr>
            <p:ph idx="1"/>
          </p:nvPr>
        </p:nvPicPr>
        <p:blipFill rotWithShape="1">
          <a:blip r:embed="rId2" cstate="print">
            <a:extLst>
              <a:ext uri="{28A0092B-C50C-407E-A947-70E740481C1C}">
                <a14:useLocalDpi xmlns:a14="http://schemas.microsoft.com/office/drawing/2010/main" val="0"/>
              </a:ext>
            </a:extLst>
          </a:blip>
          <a:srcRect b="35191"/>
          <a:stretch>
            <a:fillRect/>
          </a:stretch>
        </p:blipFill>
        <p:spPr bwMode="auto">
          <a:xfrm>
            <a:off x="561206" y="2418219"/>
            <a:ext cx="4947804" cy="3481137"/>
          </a:xfrm>
          <a:prstGeom prst="rect">
            <a:avLst/>
          </a:prstGeom>
          <a:ln>
            <a:noFill/>
          </a:ln>
          <a:extLst>
            <a:ext uri="{53640926-AAD7-44D8-BBD7-CCE9431645EC}">
              <a14:shadowObscured xmlns:a14="http://schemas.microsoft.com/office/drawing/2010/main"/>
            </a:ext>
          </a:extLst>
        </p:spPr>
      </p:pic>
      <p:pic>
        <p:nvPicPr>
          <p:cNvPr id="5" name="Picture 4">
            <a:extLst>
              <a:ext uri="{FF2B5EF4-FFF2-40B4-BE49-F238E27FC236}">
                <a16:creationId xmlns:a16="http://schemas.microsoft.com/office/drawing/2014/main" id="{DF53D2E4-E028-B0CC-2FD0-E0A11FB3394C}"/>
              </a:ext>
            </a:extLst>
          </p:cNvPr>
          <p:cNvPicPr>
            <a:picLocks noChangeAspect="1"/>
          </p:cNvPicPr>
          <p:nvPr/>
        </p:nvPicPr>
        <p:blipFill>
          <a:blip r:embed="rId3"/>
          <a:stretch>
            <a:fillRect/>
          </a:stretch>
        </p:blipFill>
        <p:spPr>
          <a:xfrm>
            <a:off x="6564237" y="2490408"/>
            <a:ext cx="5419528" cy="3336757"/>
          </a:xfrm>
          <a:prstGeom prst="rect">
            <a:avLst/>
          </a:prstGeom>
        </p:spPr>
      </p:pic>
      <p:sp>
        <p:nvSpPr>
          <p:cNvPr id="9" name="TextBox 8">
            <a:extLst>
              <a:ext uri="{FF2B5EF4-FFF2-40B4-BE49-F238E27FC236}">
                <a16:creationId xmlns:a16="http://schemas.microsoft.com/office/drawing/2014/main" id="{4A2EE54A-E703-1A41-7FF4-43DD15B94F3D}"/>
              </a:ext>
            </a:extLst>
          </p:cNvPr>
          <p:cNvSpPr txBox="1"/>
          <p:nvPr/>
        </p:nvSpPr>
        <p:spPr>
          <a:xfrm>
            <a:off x="865238" y="1713188"/>
            <a:ext cx="4122821"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Home Page</a:t>
            </a:r>
            <a:endParaRPr lang="en-IN" sz="2000" b="1"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31340964-799C-2C06-4A62-11CE5E178E91}"/>
              </a:ext>
            </a:extLst>
          </p:cNvPr>
          <p:cNvSpPr txBox="1"/>
          <p:nvPr/>
        </p:nvSpPr>
        <p:spPr>
          <a:xfrm>
            <a:off x="7569287" y="1708013"/>
            <a:ext cx="3930315"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Register Page</a:t>
            </a:r>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653995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9E72693-B2D3-D6CC-2568-E59721DC86A7}"/>
              </a:ext>
            </a:extLst>
          </p:cNvPr>
          <p:cNvPicPr>
            <a:picLocks noChangeAspect="1"/>
          </p:cNvPicPr>
          <p:nvPr/>
        </p:nvPicPr>
        <p:blipFill>
          <a:blip r:embed="rId2"/>
          <a:stretch>
            <a:fillRect/>
          </a:stretch>
        </p:blipFill>
        <p:spPr>
          <a:xfrm>
            <a:off x="494097" y="2094485"/>
            <a:ext cx="5008345" cy="3528060"/>
          </a:xfrm>
          <a:prstGeom prst="rect">
            <a:avLst/>
          </a:prstGeom>
        </p:spPr>
      </p:pic>
      <p:pic>
        <p:nvPicPr>
          <p:cNvPr id="4" name="Picture 3">
            <a:extLst>
              <a:ext uri="{FF2B5EF4-FFF2-40B4-BE49-F238E27FC236}">
                <a16:creationId xmlns:a16="http://schemas.microsoft.com/office/drawing/2014/main" id="{985BE0C8-6F56-0903-5864-8B8FA4BB1F54}"/>
              </a:ext>
            </a:extLst>
          </p:cNvPr>
          <p:cNvPicPr>
            <a:picLocks noChangeAspect="1"/>
          </p:cNvPicPr>
          <p:nvPr/>
        </p:nvPicPr>
        <p:blipFill>
          <a:blip r:embed="rId3"/>
          <a:stretch>
            <a:fillRect/>
          </a:stretch>
        </p:blipFill>
        <p:spPr>
          <a:xfrm>
            <a:off x="7603959" y="1864138"/>
            <a:ext cx="4093944" cy="4719581"/>
          </a:xfrm>
          <a:prstGeom prst="rect">
            <a:avLst/>
          </a:prstGeom>
        </p:spPr>
      </p:pic>
      <p:sp>
        <p:nvSpPr>
          <p:cNvPr id="5" name="TextBox 4">
            <a:extLst>
              <a:ext uri="{FF2B5EF4-FFF2-40B4-BE49-F238E27FC236}">
                <a16:creationId xmlns:a16="http://schemas.microsoft.com/office/drawing/2014/main" id="{30674FD7-BCB5-D8B3-39EC-013F8352D1B4}"/>
              </a:ext>
            </a:extLst>
          </p:cNvPr>
          <p:cNvSpPr txBox="1"/>
          <p:nvPr/>
        </p:nvSpPr>
        <p:spPr>
          <a:xfrm>
            <a:off x="8386813" y="1087307"/>
            <a:ext cx="3805187"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Predict Page</a:t>
            </a:r>
            <a:endParaRPr lang="en-IN" sz="2000"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DD263E3C-B36E-496E-4C43-1DF9D84CD032}"/>
              </a:ext>
            </a:extLst>
          </p:cNvPr>
          <p:cNvSpPr txBox="1"/>
          <p:nvPr/>
        </p:nvSpPr>
        <p:spPr>
          <a:xfrm>
            <a:off x="1389971" y="1035400"/>
            <a:ext cx="4299284"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Login Page</a:t>
            </a:r>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610306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2CAFF4-8F11-266C-D088-0A4BB0BAD49E}"/>
              </a:ext>
            </a:extLst>
          </p:cNvPr>
          <p:cNvSpPr>
            <a:spLocks noGrp="1"/>
          </p:cNvSpPr>
          <p:nvPr>
            <p:ph type="title"/>
          </p:nvPr>
        </p:nvSpPr>
        <p:spPr>
          <a:xfrm>
            <a:off x="426720" y="152400"/>
            <a:ext cx="8440882" cy="1005840"/>
          </a:xfrm>
        </p:spPr>
        <p:txBody>
          <a:bodyPr>
            <a:normAutofit/>
          </a:bodyPr>
          <a:lstStyle/>
          <a:p>
            <a:r>
              <a:rPr lang="en-IN" sz="3200" dirty="0">
                <a:latin typeface="Times New Roman" panose="02020603050405020304" pitchFamily="18" charset="0"/>
                <a:cs typeface="Times New Roman" panose="02020603050405020304" pitchFamily="18" charset="0"/>
              </a:rPr>
              <a:t> </a:t>
            </a:r>
            <a:r>
              <a:rPr lang="en-IN" sz="3200" b="1" dirty="0">
                <a:latin typeface="Times New Roman" panose="02020603050405020304" pitchFamily="18" charset="0"/>
                <a:cs typeface="Times New Roman" panose="02020603050405020304" pitchFamily="18" charset="0"/>
              </a:rPr>
              <a:t>Challenges</a:t>
            </a:r>
            <a:r>
              <a:rPr lang="en-IN" sz="3200" dirty="0">
                <a:latin typeface="Times New Roman" panose="02020603050405020304" pitchFamily="18" charset="0"/>
                <a:cs typeface="Times New Roman" panose="02020603050405020304" pitchFamily="18" charset="0"/>
              </a:rPr>
              <a:t> </a:t>
            </a:r>
            <a:r>
              <a:rPr lang="en-IN" sz="3200" b="1" dirty="0">
                <a:latin typeface="Times New Roman" panose="02020603050405020304" pitchFamily="18" charset="0"/>
                <a:cs typeface="Times New Roman" panose="02020603050405020304" pitchFamily="18" charset="0"/>
              </a:rPr>
              <a:t>Faced</a:t>
            </a:r>
          </a:p>
        </p:txBody>
      </p:sp>
      <p:sp>
        <p:nvSpPr>
          <p:cNvPr id="3" name="Content Placeholder 2">
            <a:extLst>
              <a:ext uri="{FF2B5EF4-FFF2-40B4-BE49-F238E27FC236}">
                <a16:creationId xmlns:a16="http://schemas.microsoft.com/office/drawing/2014/main" id="{F83C80A9-CC8D-0279-178E-1E90D0A946D5}"/>
              </a:ext>
            </a:extLst>
          </p:cNvPr>
          <p:cNvSpPr>
            <a:spLocks noGrp="1"/>
          </p:cNvSpPr>
          <p:nvPr>
            <p:ph idx="1"/>
          </p:nvPr>
        </p:nvSpPr>
        <p:spPr>
          <a:xfrm>
            <a:off x="142240" y="1158240"/>
            <a:ext cx="11805920" cy="5699760"/>
          </a:xfrm>
        </p:spPr>
        <p:txBody>
          <a:bodyPr>
            <a:noAutofit/>
          </a:bodyPr>
          <a:lstStyle/>
          <a:p>
            <a:pPr marL="0" indent="0">
              <a:buNone/>
            </a:pPr>
            <a:r>
              <a:rPr lang="en-US" b="1" dirty="0">
                <a:latin typeface="Times New Roman" panose="02020603050405020304" pitchFamily="18" charset="0"/>
                <a:cs typeface="Times New Roman" panose="02020603050405020304" pitchFamily="18" charset="0"/>
              </a:rPr>
              <a:t>1. Technical Challenges</a:t>
            </a: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Integrating different modules (login, data cleaning, sentiment analysis, recommendation).</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Choosing the right algorithms for text analysis and recommendations.</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Handling errors while connecting frontend (HTML/CSS/JS) with backend (Flask/Django).</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2. Data-Related Issues</a:t>
            </a: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Raw reviews were noisy (spelling mistakes, special characters, </a:t>
            </a:r>
            <a:r>
              <a:rPr lang="en-US" dirty="0" err="1">
                <a:latin typeface="Times New Roman" panose="02020603050405020304" pitchFamily="18" charset="0"/>
                <a:cs typeface="Times New Roman" panose="02020603050405020304" pitchFamily="18" charset="0"/>
              </a:rPr>
              <a:t>stopwords</a:t>
            </a:r>
            <a:r>
              <a:rPr lang="en-US" dirty="0">
                <a:latin typeface="Times New Roman" panose="02020603050405020304" pitchFamily="18" charset="0"/>
                <a:cs typeface="Times New Roman" panose="02020603050405020304" pitchFamily="18" charset="0"/>
              </a:rPr>
              <a:t>).</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Small dataset → less accuracy.</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Cold-start problem (new users/medicines had no reviews).</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3. Time Constraints</a:t>
            </a: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Limited time to design, implement, and test full system.</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Needed to learn multiple tools (Python, ML, NLP, Flask/Django).</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354709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839192-8A01-48C7-370C-2DBD5557F6DB}"/>
              </a:ext>
            </a:extLst>
          </p:cNvPr>
          <p:cNvSpPr>
            <a:spLocks noGrp="1"/>
          </p:cNvSpPr>
          <p:nvPr>
            <p:ph type="title"/>
          </p:nvPr>
        </p:nvSpPr>
        <p:spPr>
          <a:xfrm>
            <a:off x="711199" y="389917"/>
            <a:ext cx="8386695" cy="941043"/>
          </a:xfrm>
        </p:spPr>
        <p:txBody>
          <a:bodyPr>
            <a:normAutofit/>
          </a:bodyPr>
          <a:lstStyle/>
          <a:p>
            <a:r>
              <a:rPr lang="en-IN" sz="3200" dirty="0">
                <a:latin typeface="Times New Roman" panose="02020603050405020304" pitchFamily="18" charset="0"/>
                <a:cs typeface="Times New Roman" panose="02020603050405020304" pitchFamily="18" charset="0"/>
              </a:rPr>
              <a:t> </a:t>
            </a:r>
            <a:r>
              <a:rPr lang="en-IN" sz="3200" b="1"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0062DFA5-7DCB-4674-C91A-C6902867E674}"/>
              </a:ext>
            </a:extLst>
          </p:cNvPr>
          <p:cNvSpPr>
            <a:spLocks noGrp="1"/>
          </p:cNvSpPr>
          <p:nvPr>
            <p:ph idx="1"/>
          </p:nvPr>
        </p:nvSpPr>
        <p:spPr>
          <a:xfrm>
            <a:off x="365760" y="1625600"/>
            <a:ext cx="11643360" cy="4968239"/>
          </a:xfrm>
        </p:spPr>
        <p:txBody>
          <a:bodyPr>
            <a:normAutofit/>
          </a:bodyPr>
          <a:lstStyle/>
          <a:p>
            <a:pPr marL="0" indent="0">
              <a:buNone/>
            </a:pPr>
            <a:r>
              <a:rPr lang="en-US" b="1" dirty="0">
                <a:latin typeface="Times New Roman" panose="02020603050405020304" pitchFamily="18" charset="0"/>
                <a:cs typeface="Times New Roman" panose="02020603050405020304" pitchFamily="18" charset="0"/>
              </a:rPr>
              <a:t>Summary of Achievements:</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project successfully built a medicine recommendation system that combines user reviews, ratings, and sentiment analysis. It achieves better accuracy than using star ratings alone. The web application is modular and user-friendly, making it easy to use and update.</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Project Impact:</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This system helps patients choose safe and effective medicines, saving time and money, and increasing trust in digital healthcare platforms. It also shows how AI and NLP can solve real-world healthcare problems.</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Key Takeaways:</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User reviews provide more information than just star ratings. Combining machine learning with sentiment analysis improves recommendations. The modular design makes the system easy to update and expand. This approach can be extended to hospitals, doctors, or even other areas like movies, books, or courses.</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051940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2D5F31-35AE-D02E-1C47-332C81D0ECDC}"/>
              </a:ext>
            </a:extLst>
          </p:cNvPr>
          <p:cNvSpPr>
            <a:spLocks noGrp="1"/>
          </p:cNvSpPr>
          <p:nvPr>
            <p:ph type="title"/>
          </p:nvPr>
        </p:nvSpPr>
        <p:spPr>
          <a:xfrm>
            <a:off x="873760" y="609600"/>
            <a:ext cx="8400242" cy="914400"/>
          </a:xfrm>
        </p:spPr>
        <p:txBody>
          <a:bodyPr>
            <a:normAutofit fontScale="90000"/>
          </a:bodyPr>
          <a:lstStyle/>
          <a:p>
            <a:r>
              <a:rPr lang="en-US" b="1" dirty="0">
                <a:latin typeface="Times New Roman" panose="02020603050405020304" pitchFamily="18" charset="0"/>
                <a:cs typeface="Times New Roman" panose="02020603050405020304" pitchFamily="18" charset="0"/>
              </a:rPr>
              <a:t>Future Work / Scope for Improvement</a:t>
            </a:r>
            <a:br>
              <a:rPr lang="en-US" b="1"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ACF173E-2A9B-B0D9-08F2-6A006F4EBA40}"/>
              </a:ext>
            </a:extLst>
          </p:cNvPr>
          <p:cNvSpPr>
            <a:spLocks noGrp="1"/>
          </p:cNvSpPr>
          <p:nvPr>
            <p:ph idx="1"/>
          </p:nvPr>
        </p:nvSpPr>
        <p:spPr>
          <a:xfrm>
            <a:off x="538480" y="1605281"/>
            <a:ext cx="10718800" cy="4897120"/>
          </a:xfrm>
        </p:spPr>
        <p:txBody>
          <a:bodyPr>
            <a:normAutofit lnSpcReduction="10000"/>
          </a:bodyPr>
          <a:lstStyle/>
          <a:p>
            <a:pPr marL="0" indent="0">
              <a:buNone/>
            </a:pPr>
            <a:r>
              <a:rPr lang="en-US" b="1" dirty="0">
                <a:latin typeface="Times New Roman" panose="02020603050405020304" pitchFamily="18" charset="0"/>
                <a:cs typeface="Times New Roman" panose="02020603050405020304" pitchFamily="18" charset="0"/>
              </a:rPr>
              <a:t>1. Future Enhancements</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Add multilingual support so reviews in different languages can be analyzed.</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Collect larger datasets from hospitals, pharmacies, and medical forums.</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Build a mobile app for easier access.</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Use cloud deployment for scalability and faster performance.</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Integrate with hospital or pharmacy databases for verified recommendations.</a:t>
            </a:r>
          </a:p>
          <a:p>
            <a:pPr marL="0" indent="0">
              <a:buNone/>
            </a:pP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2. Current Limitations</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Works best with English reviews only (other languages not fully supported).</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Accuracy depends on the size and quality of the dataset.</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Performance may slow down for very large datasets.</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Limited ability to capture detailed medical context (like dosage, side effects, patient history).</a:t>
            </a:r>
          </a:p>
          <a:p>
            <a:pPr>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66978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8FA5B2-4C47-B79C-F3C9-1857EC5570B5}"/>
              </a:ext>
            </a:extLst>
          </p:cNvPr>
          <p:cNvSpPr>
            <a:spLocks noGrp="1"/>
          </p:cNvSpPr>
          <p:nvPr>
            <p:ph type="title"/>
          </p:nvPr>
        </p:nvSpPr>
        <p:spPr/>
        <p:txBody>
          <a:bodyPr/>
          <a:lstStyle/>
          <a:p>
            <a:r>
              <a:rPr lang="en-US" b="1" dirty="0"/>
              <a:t>References</a:t>
            </a:r>
            <a:endParaRPr lang="en-IN" b="1" dirty="0"/>
          </a:p>
        </p:txBody>
      </p:sp>
      <p:sp>
        <p:nvSpPr>
          <p:cNvPr id="3" name="Content Placeholder 2">
            <a:extLst>
              <a:ext uri="{FF2B5EF4-FFF2-40B4-BE49-F238E27FC236}">
                <a16:creationId xmlns:a16="http://schemas.microsoft.com/office/drawing/2014/main" id="{AA03EDDB-A3FA-7B5D-2AFE-E940E0EF7FBD}"/>
              </a:ext>
            </a:extLst>
          </p:cNvPr>
          <p:cNvSpPr>
            <a:spLocks noGrp="1"/>
          </p:cNvSpPr>
          <p:nvPr>
            <p:ph idx="1"/>
          </p:nvPr>
        </p:nvSpPr>
        <p:spPr>
          <a:xfrm>
            <a:off x="353961" y="1828801"/>
            <a:ext cx="10609007" cy="4212562"/>
          </a:xfrm>
        </p:spPr>
        <p:txBody>
          <a:bodyPr>
            <a:normAutofit/>
          </a:bodyPr>
          <a:lstStyle/>
          <a:p>
            <a:pPr marL="457200" indent="-457200">
              <a:lnSpc>
                <a:spcPct val="160000"/>
              </a:lnSpc>
              <a:buFont typeface="+mj-lt"/>
              <a:buAutoNum type="arabicPeriod"/>
            </a:pPr>
            <a:r>
              <a:rPr lang="en-US" sz="2000" dirty="0">
                <a:latin typeface="Times New Roman" panose="02020603050405020304" pitchFamily="18" charset="0"/>
                <a:cs typeface="Times New Roman" panose="02020603050405020304" pitchFamily="18" charset="0"/>
              </a:rPr>
              <a:t>Y. LeCun, Y. Bengio, and G. Hinton, </a:t>
            </a:r>
            <a:r>
              <a:rPr lang="en-US" sz="2000" i="1" dirty="0">
                <a:latin typeface="Times New Roman" panose="02020603050405020304" pitchFamily="18" charset="0"/>
                <a:cs typeface="Times New Roman" panose="02020603050405020304" pitchFamily="18" charset="0"/>
              </a:rPr>
              <a:t>“Deep learning,”</a:t>
            </a:r>
            <a:r>
              <a:rPr lang="en-US" sz="2000" dirty="0">
                <a:latin typeface="Times New Roman" panose="02020603050405020304" pitchFamily="18" charset="0"/>
                <a:cs typeface="Times New Roman" panose="02020603050405020304" pitchFamily="18" charset="0"/>
              </a:rPr>
              <a:t> 2015.</a:t>
            </a:r>
          </a:p>
          <a:p>
            <a:pPr marL="457200" indent="-457200">
              <a:lnSpc>
                <a:spcPct val="160000"/>
              </a:lnSpc>
              <a:buFont typeface="+mj-lt"/>
              <a:buAutoNum type="arabicPeriod"/>
            </a:pPr>
            <a:r>
              <a:rPr lang="en-US" sz="2000" dirty="0">
                <a:latin typeface="Times New Roman" panose="02020603050405020304" pitchFamily="18" charset="0"/>
                <a:cs typeface="Times New Roman" panose="02020603050405020304" pitchFamily="18" charset="0"/>
              </a:rPr>
              <a:t>T. </a:t>
            </a:r>
            <a:r>
              <a:rPr lang="en-US" sz="2000" dirty="0" err="1">
                <a:latin typeface="Times New Roman" panose="02020603050405020304" pitchFamily="18" charset="0"/>
                <a:cs typeface="Times New Roman" panose="02020603050405020304" pitchFamily="18" charset="0"/>
              </a:rPr>
              <a:t>Mikolov</a:t>
            </a:r>
            <a:r>
              <a:rPr lang="en-US" sz="2000" dirty="0">
                <a:latin typeface="Times New Roman" panose="02020603050405020304" pitchFamily="18" charset="0"/>
                <a:cs typeface="Times New Roman" panose="02020603050405020304" pitchFamily="18" charset="0"/>
              </a:rPr>
              <a:t> et al., </a:t>
            </a:r>
            <a:r>
              <a:rPr lang="en-US" sz="2000" i="1" dirty="0">
                <a:latin typeface="Times New Roman" panose="02020603050405020304" pitchFamily="18" charset="0"/>
                <a:cs typeface="Times New Roman" panose="02020603050405020304" pitchFamily="18" charset="0"/>
              </a:rPr>
              <a:t>“Efficient Estimation of Word Representations in Vector Space,”</a:t>
            </a:r>
            <a:r>
              <a:rPr lang="en-US" sz="2000" dirty="0">
                <a:latin typeface="Times New Roman" panose="02020603050405020304" pitchFamily="18" charset="0"/>
                <a:cs typeface="Times New Roman" panose="02020603050405020304" pitchFamily="18" charset="0"/>
              </a:rPr>
              <a:t> 2013.</a:t>
            </a:r>
          </a:p>
          <a:p>
            <a:pPr marL="457200" indent="-457200">
              <a:lnSpc>
                <a:spcPct val="160000"/>
              </a:lnSpc>
              <a:buFont typeface="+mj-lt"/>
              <a:buAutoNum type="arabicPeriod"/>
            </a:pPr>
            <a:r>
              <a:rPr lang="en-US" sz="2000" dirty="0">
                <a:latin typeface="Times New Roman" panose="02020603050405020304" pitchFamily="18" charset="0"/>
                <a:cs typeface="Times New Roman" panose="02020603050405020304" pitchFamily="18" charset="0"/>
              </a:rPr>
              <a:t>J. Pennington et al., </a:t>
            </a:r>
            <a:r>
              <a:rPr lang="en-US" sz="2000" i="1" dirty="0">
                <a:latin typeface="Times New Roman" panose="02020603050405020304" pitchFamily="18" charset="0"/>
                <a:cs typeface="Times New Roman" panose="02020603050405020304" pitchFamily="18" charset="0"/>
              </a:rPr>
              <a:t>“</a:t>
            </a:r>
            <a:r>
              <a:rPr lang="en-US" sz="2000" i="1" dirty="0" err="1">
                <a:latin typeface="Times New Roman" panose="02020603050405020304" pitchFamily="18" charset="0"/>
                <a:cs typeface="Times New Roman" panose="02020603050405020304" pitchFamily="18" charset="0"/>
              </a:rPr>
              <a:t>GloVe</a:t>
            </a:r>
            <a:r>
              <a:rPr lang="en-US" sz="2000" i="1" dirty="0">
                <a:latin typeface="Times New Roman" panose="02020603050405020304" pitchFamily="18" charset="0"/>
                <a:cs typeface="Times New Roman" panose="02020603050405020304" pitchFamily="18" charset="0"/>
              </a:rPr>
              <a:t>: Global Vectors for Word Representation,”</a:t>
            </a:r>
            <a:r>
              <a:rPr lang="en-US" sz="2000" dirty="0">
                <a:latin typeface="Times New Roman" panose="02020603050405020304" pitchFamily="18" charset="0"/>
                <a:cs typeface="Times New Roman" panose="02020603050405020304" pitchFamily="18" charset="0"/>
              </a:rPr>
              <a:t> 2014.</a:t>
            </a:r>
          </a:p>
          <a:p>
            <a:pPr marL="457200" indent="-457200">
              <a:lnSpc>
                <a:spcPct val="160000"/>
              </a:lnSpc>
              <a:buFont typeface="+mj-lt"/>
              <a:buAutoNum type="arabicPeriod"/>
            </a:pPr>
            <a:r>
              <a:rPr lang="en-US" sz="2000" dirty="0">
                <a:latin typeface="Times New Roman" panose="02020603050405020304" pitchFamily="18" charset="0"/>
                <a:cs typeface="Times New Roman" panose="02020603050405020304" pitchFamily="18" charset="0"/>
              </a:rPr>
              <a:t>P. Bojanowski et al., </a:t>
            </a:r>
            <a:r>
              <a:rPr lang="en-US" sz="2000" i="1" dirty="0">
                <a:latin typeface="Times New Roman" panose="02020603050405020304" pitchFamily="18" charset="0"/>
                <a:cs typeface="Times New Roman" panose="02020603050405020304" pitchFamily="18" charset="0"/>
              </a:rPr>
              <a:t>“Enriching Word Vectors with </a:t>
            </a:r>
            <a:r>
              <a:rPr lang="en-US" sz="2000" i="1" dirty="0" err="1">
                <a:latin typeface="Times New Roman" panose="02020603050405020304" pitchFamily="18" charset="0"/>
                <a:cs typeface="Times New Roman" panose="02020603050405020304" pitchFamily="18" charset="0"/>
              </a:rPr>
              <a:t>Subword</a:t>
            </a:r>
            <a:r>
              <a:rPr lang="en-US" sz="2000" i="1" dirty="0">
                <a:latin typeface="Times New Roman" panose="02020603050405020304" pitchFamily="18" charset="0"/>
                <a:cs typeface="Times New Roman" panose="02020603050405020304" pitchFamily="18" charset="0"/>
              </a:rPr>
              <a:t> Information (</a:t>
            </a:r>
            <a:r>
              <a:rPr lang="en-US" sz="2000" i="1" dirty="0" err="1">
                <a:latin typeface="Times New Roman" panose="02020603050405020304" pitchFamily="18" charset="0"/>
                <a:cs typeface="Times New Roman" panose="02020603050405020304" pitchFamily="18" charset="0"/>
              </a:rPr>
              <a:t>fastText</a:t>
            </a:r>
            <a:r>
              <a:rPr lang="en-US" sz="2000" i="1" dirty="0">
                <a:latin typeface="Times New Roman" panose="02020603050405020304" pitchFamily="18"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 2017.</a:t>
            </a:r>
          </a:p>
          <a:p>
            <a:pPr marL="457200" indent="-457200">
              <a:lnSpc>
                <a:spcPct val="160000"/>
              </a:lnSpc>
              <a:buFont typeface="+mj-lt"/>
              <a:buAutoNum type="arabicPeriod"/>
            </a:pPr>
            <a:r>
              <a:rPr lang="en-US" sz="2000" dirty="0">
                <a:latin typeface="Times New Roman" panose="02020603050405020304" pitchFamily="18" charset="0"/>
                <a:cs typeface="Times New Roman" panose="02020603050405020304" pitchFamily="18" charset="0"/>
              </a:rPr>
              <a:t>J. Devlin et al., </a:t>
            </a:r>
            <a:r>
              <a:rPr lang="en-US" sz="2000" i="1" dirty="0">
                <a:latin typeface="Times New Roman" panose="02020603050405020304" pitchFamily="18" charset="0"/>
                <a:cs typeface="Times New Roman" panose="02020603050405020304" pitchFamily="18" charset="0"/>
              </a:rPr>
              <a:t>“BERT: Pre-training of Deep Bidirectional Transformers for Language Understanding,”</a:t>
            </a:r>
            <a:r>
              <a:rPr lang="en-US" sz="2000" dirty="0">
                <a:latin typeface="Times New Roman" panose="02020603050405020304" pitchFamily="18" charset="0"/>
                <a:cs typeface="Times New Roman" panose="02020603050405020304" pitchFamily="18" charset="0"/>
              </a:rPr>
              <a:t> 2019.</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851880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1D7917-3CEE-0722-2868-526222AB65FD}"/>
              </a:ext>
            </a:extLst>
          </p:cNvPr>
          <p:cNvSpPr>
            <a:spLocks noGrp="1"/>
          </p:cNvSpPr>
          <p:nvPr>
            <p:ph type="title"/>
          </p:nvPr>
        </p:nvSpPr>
        <p:spPr>
          <a:xfrm>
            <a:off x="1052051" y="491613"/>
            <a:ext cx="10107562" cy="5909188"/>
          </a:xfrm>
        </p:spPr>
        <p:txBody>
          <a:bodyPr/>
          <a:lstStyle/>
          <a:p>
            <a:pPr algn="ctr"/>
            <a:br>
              <a:rPr lang="en-US" dirty="0"/>
            </a:br>
            <a:br>
              <a:rPr lang="en-US" dirty="0"/>
            </a:br>
            <a:br>
              <a:rPr lang="en-US" dirty="0"/>
            </a:br>
            <a:br>
              <a:rPr lang="en-US" dirty="0"/>
            </a:br>
            <a:r>
              <a:rPr lang="en-US" sz="6000" b="1" dirty="0">
                <a:latin typeface="Times New Roman" panose="02020603050405020304" pitchFamily="18" charset="0"/>
                <a:cs typeface="Times New Roman" panose="02020603050405020304" pitchFamily="18" charset="0"/>
              </a:rPr>
              <a:t>THANK YOU</a:t>
            </a:r>
            <a:endParaRPr lang="en-IN" sz="6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80961164"/>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231</TotalTime>
  <Words>1411</Words>
  <Application>Microsoft Office PowerPoint</Application>
  <PresentationFormat>Widescreen</PresentationFormat>
  <Paragraphs>168</Paragraphs>
  <Slides>18</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Aptos</vt:lpstr>
      <vt:lpstr>Arial</vt:lpstr>
      <vt:lpstr>Times New Roman</vt:lpstr>
      <vt:lpstr>Trebuchet MS</vt:lpstr>
      <vt:lpstr>Wingdings</vt:lpstr>
      <vt:lpstr>Wingdings 3</vt:lpstr>
      <vt:lpstr>Facet</vt:lpstr>
      <vt:lpstr> DAVANAGERE       UNIVERSITY         DEPT. OF STUDIES IN COMPUTER APPLICATIONS(MCA)   “Medicine Recommendation based on the  User Reviews” </vt:lpstr>
      <vt:lpstr>Introduction</vt:lpstr>
      <vt:lpstr>Problem Statement</vt:lpstr>
      <vt:lpstr>Objectives</vt:lpstr>
      <vt:lpstr>Literature Review</vt:lpstr>
      <vt:lpstr>SYSTEM ARCHITECTURE</vt:lpstr>
      <vt:lpstr>DATA FLOW DIAGRAM</vt:lpstr>
      <vt:lpstr>TOOLS AND TECHNOLOGIES</vt:lpstr>
      <vt:lpstr>Methodology/implementation details</vt:lpstr>
      <vt:lpstr>Algorithms</vt:lpstr>
      <vt:lpstr>Key Modules</vt:lpstr>
      <vt:lpstr>RESULTS/OUTPUT</vt:lpstr>
      <vt:lpstr>PowerPoint Presentation</vt:lpstr>
      <vt:lpstr> Challenges Faced</vt:lpstr>
      <vt:lpstr> Conclusion</vt:lpstr>
      <vt:lpstr>Future Work / Scope for Improvement </vt:lpstr>
      <vt:lpstr>References</vt:lpstr>
      <vt:lpstr>    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Vijay Aras</dc:creator>
  <cp:lastModifiedBy>Karthik S R</cp:lastModifiedBy>
  <cp:revision>26</cp:revision>
  <dcterms:created xsi:type="dcterms:W3CDTF">2025-09-17T15:28:07Z</dcterms:created>
  <dcterms:modified xsi:type="dcterms:W3CDTF">2025-09-22T06:16:30Z</dcterms:modified>
</cp:coreProperties>
</file>